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F3A5F"/>
          </a:solidFill>
          <a:ln/>
        </p:spPr>
      </p:sp>
      <p:pic>
        <p:nvPicPr>
          <p:cNvPr id="3" name="Image 0" descr="/home/claude/logo.png">    </p:cNvPr>
          <p:cNvPicPr>
            <a:picLocks noChangeAspect="1"/>
          </p:cNvPicPr>
          <p:nvPr/>
        </p:nvPicPr>
        <p:blipFill>
          <a:blip r:embed="rId1"/>
          <a:stretch>
            <a:fillRect/>
          </a:stretch>
        </p:blipFill>
        <p:spPr>
          <a:xfrm>
            <a:off x="228600" y="274320"/>
            <a:ext cx="2011680" cy="822960"/>
          </a:xfrm>
          <a:prstGeom prst="rect">
            <a:avLst/>
          </a:prstGeom>
        </p:spPr>
      </p:pic>
      <p:sp>
        <p:nvSpPr>
          <p:cNvPr id="4" name="Text 1"/>
          <p:cNvSpPr txBox="1"/>
          <p:nvPr/>
        </p:nvSpPr>
        <p:spPr>
          <a:xfrm>
            <a:off x="228600" y="1234440"/>
            <a:ext cx="3657600" cy="228600"/>
          </a:xfrm>
          <a:prstGeom prst="rect">
            <a:avLst/>
          </a:prstGeom>
          <a:noFill/>
          <a:ln/>
        </p:spPr>
        <p:txBody>
          <a:bodyPr wrap="square" lIns="0" tIns="0" rIns="0" bIns="0" rtlCol="0" anchor="ctr"/>
          <a:lstStyle/>
          <a:p>
            <a:pPr indent="0" marL="0">
              <a:buNone/>
            </a:pPr>
            <a:r>
              <a:rPr lang="en-US" sz="800" b="1" dirty="0">
                <a:solidFill>
                  <a:srgbClr val="F5A623"/>
                </a:solidFill>
                <a:latin typeface="Arial" pitchFamily="34" charset="0"/>
                <a:ea typeface="Arial" pitchFamily="34" charset="-122"/>
                <a:cs typeface="Arial" pitchFamily="34" charset="-120"/>
              </a:rPr>
              <a:t>COMMERCIAL PROPERTY</a:t>
            </a:r>
            <a:endParaRPr lang="en-US" sz="800" dirty="0"/>
          </a:p>
        </p:txBody>
      </p:sp>
      <p:sp>
        <p:nvSpPr>
          <p:cNvPr id="5" name="Text 2"/>
          <p:cNvSpPr txBox="1"/>
          <p:nvPr/>
        </p:nvSpPr>
        <p:spPr>
          <a:xfrm>
            <a:off x="228600" y="1508760"/>
            <a:ext cx="365760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[PROPERTY</a:t>
            </a:r>
            <a:endParaRPr lang="en-US" sz="3800" dirty="0"/>
          </a:p>
        </p:txBody>
      </p:sp>
      <p:sp>
        <p:nvSpPr>
          <p:cNvPr id="6" name="Text 3"/>
          <p:cNvSpPr txBox="1"/>
          <p:nvPr/>
        </p:nvSpPr>
        <p:spPr>
          <a:xfrm>
            <a:off x="228600" y="1920240"/>
            <a:ext cx="3657600" cy="777240"/>
          </a:xfrm>
          <a:prstGeom prst="rect">
            <a:avLst/>
          </a:prstGeom>
          <a:noFill/>
          <a:ln/>
        </p:spPr>
        <p:txBody>
          <a:bodyPr wrap="square" lIns="0" tIns="0" rIns="0" bIns="0" rtlCol="0" anchor="ctr"/>
          <a:lstStyle/>
          <a:p>
            <a:pPr indent="0" marL="0">
              <a:buNone/>
            </a:pPr>
            <a:r>
              <a:rPr lang="en-US" sz="3800" b="1" dirty="0">
                <a:solidFill>
                  <a:srgbClr val="F5A623"/>
                </a:solidFill>
                <a:latin typeface="Arial" pitchFamily="34" charset="0"/>
                <a:ea typeface="Arial" pitchFamily="34" charset="-122"/>
                <a:cs typeface="Arial" pitchFamily="34" charset="-120"/>
              </a:rPr>
              <a:t>NAME]</a:t>
            </a:r>
            <a:endParaRPr lang="en-US" sz="3800" dirty="0"/>
          </a:p>
        </p:txBody>
      </p:sp>
      <p:sp>
        <p:nvSpPr>
          <p:cNvPr id="7" name="Text 4"/>
          <p:cNvSpPr txBox="1"/>
          <p:nvPr/>
        </p:nvSpPr>
        <p:spPr>
          <a:xfrm>
            <a:off x="228600" y="2743200"/>
            <a:ext cx="3657600" cy="274320"/>
          </a:xfrm>
          <a:prstGeom prst="rect">
            <a:avLst/>
          </a:prstGeom>
          <a:noFill/>
          <a:ln/>
        </p:spPr>
        <p:txBody>
          <a:bodyPr wrap="square" lIns="0" tIns="0" rIns="0" bIns="0" rtlCol="0" anchor="ctr"/>
          <a:lstStyle/>
          <a:p>
            <a:pPr indent="0" marL="0">
              <a:buNone/>
            </a:pPr>
            <a:r>
              <a:rPr lang="en-US" sz="1000" b="1" dirty="0">
                <a:solidFill>
                  <a:srgbClr val="D1D5DB"/>
                </a:solidFill>
                <a:latin typeface="Arial" pitchFamily="34" charset="0"/>
                <a:ea typeface="Arial" pitchFamily="34" charset="-122"/>
                <a:cs typeface="Arial" pitchFamily="34" charset="-120"/>
              </a:rPr>
              <a:t>[ADDRESS] • [CITY], TX</a:t>
            </a:r>
            <a:endParaRPr lang="en-US" sz="1000" dirty="0"/>
          </a:p>
        </p:txBody>
      </p:sp>
      <p:sp>
        <p:nvSpPr>
          <p:cNvPr id="8" name="Shape 5"/>
          <p:cNvSpPr/>
          <p:nvPr/>
        </p:nvSpPr>
        <p:spPr>
          <a:xfrm>
            <a:off x="228600" y="3108960"/>
            <a:ext cx="3566160" cy="320040"/>
          </a:xfrm>
          <a:prstGeom prst="rect">
            <a:avLst/>
          </a:prstGeom>
          <a:solidFill>
            <a:srgbClr val="C85A17"/>
          </a:solidFill>
          <a:ln/>
        </p:spPr>
      </p:sp>
      <p:sp>
        <p:nvSpPr>
          <p:cNvPr id="9" name="Text 6"/>
          <p:cNvSpPr txBox="1"/>
          <p:nvPr/>
        </p:nvSpPr>
        <p:spPr>
          <a:xfrm>
            <a:off x="228600" y="3108960"/>
            <a:ext cx="35661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FOR LEASE  |  FOR SALE  |  BUILD-TO-SUIT</a:t>
            </a:r>
            <a:endParaRPr lang="en-US" sz="900" dirty="0"/>
          </a:p>
        </p:txBody>
      </p:sp>
      <p:sp>
        <p:nvSpPr>
          <p:cNvPr id="10" name="Shape 7"/>
          <p:cNvSpPr/>
          <p:nvPr/>
        </p:nvSpPr>
        <p:spPr>
          <a:xfrm>
            <a:off x="228600" y="3840480"/>
            <a:ext cx="3566160" cy="0"/>
          </a:xfrm>
          <a:prstGeom prst="line">
            <a:avLst/>
          </a:prstGeom>
          <a:noFill/>
          <a:ln w="6350">
            <a:solidFill>
              <a:srgbClr val="2D4F7A"/>
            </a:solidFill>
            <a:prstDash val="solid"/>
          </a:ln>
        </p:spPr>
      </p:sp>
      <p:sp>
        <p:nvSpPr>
          <p:cNvPr id="11" name="Text 8"/>
          <p:cNvSpPr txBox="1"/>
          <p:nvPr/>
        </p:nvSpPr>
        <p:spPr>
          <a:xfrm>
            <a:off x="228600" y="3867912"/>
            <a:ext cx="1371600" cy="20116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[XX,XXX]</a:t>
            </a:r>
            <a:endParaRPr lang="en-US" sz="1300" dirty="0"/>
          </a:p>
        </p:txBody>
      </p:sp>
      <p:sp>
        <p:nvSpPr>
          <p:cNvPr id="12" name="Text 9"/>
          <p:cNvSpPr txBox="1"/>
          <p:nvPr/>
        </p:nvSpPr>
        <p:spPr>
          <a:xfrm>
            <a:off x="1508760" y="3904488"/>
            <a:ext cx="731520" cy="146304"/>
          </a:xfrm>
          <a:prstGeom prst="rect">
            <a:avLst/>
          </a:prstGeom>
          <a:noFill/>
          <a:ln/>
        </p:spPr>
        <p:txBody>
          <a:bodyPr wrap="square" lIns="0" tIns="0" rIns="0" bIns="0" rtlCol="0" anchor="ctr"/>
          <a:lstStyle/>
          <a:p>
            <a:pPr indent="0" marL="0">
              <a:buNone/>
            </a:pPr>
            <a:r>
              <a:rPr lang="en-US" sz="700" b="1" dirty="0">
                <a:solidFill>
                  <a:srgbClr val="F5A623"/>
                </a:solidFill>
                <a:latin typeface="Arial" pitchFamily="34" charset="0"/>
                <a:ea typeface="Arial" pitchFamily="34" charset="-122"/>
                <a:cs typeface="Arial" pitchFamily="34" charset="-120"/>
              </a:rPr>
              <a:t>SF</a:t>
            </a:r>
            <a:endParaRPr lang="en-US" sz="700" dirty="0"/>
          </a:p>
        </p:txBody>
      </p:sp>
      <p:sp>
        <p:nvSpPr>
          <p:cNvPr id="13" name="Text 10"/>
          <p:cNvSpPr txBox="1"/>
          <p:nvPr/>
        </p:nvSpPr>
        <p:spPr>
          <a:xfrm>
            <a:off x="2743200" y="3904488"/>
            <a:ext cx="1005840" cy="146304"/>
          </a:xfrm>
          <a:prstGeom prst="rect">
            <a:avLst/>
          </a:prstGeom>
          <a:noFill/>
          <a:ln/>
        </p:spPr>
        <p:txBody>
          <a:bodyPr wrap="square" lIns="0" tIns="0" rIns="0" bIns="0" rtlCol="0" anchor="ctr"/>
          <a:lstStyle/>
          <a:p>
            <a:pPr algn="r" indent="0" marL="0">
              <a:buNone/>
            </a:pPr>
            <a:r>
              <a:rPr lang="en-US" sz="700" dirty="0">
                <a:solidFill>
                  <a:srgbClr val="D1D5DB"/>
                </a:solidFill>
                <a:latin typeface="Arial" pitchFamily="34" charset="0"/>
                <a:ea typeface="Arial" pitchFamily="34" charset="-122"/>
                <a:cs typeface="Arial" pitchFamily="34" charset="-120"/>
              </a:rPr>
              <a:t>TOTAL SPACE</a:t>
            </a:r>
            <a:endParaRPr lang="en-US" sz="700" dirty="0"/>
          </a:p>
        </p:txBody>
      </p:sp>
      <p:sp>
        <p:nvSpPr>
          <p:cNvPr id="14" name="Shape 11"/>
          <p:cNvSpPr/>
          <p:nvPr/>
        </p:nvSpPr>
        <p:spPr>
          <a:xfrm>
            <a:off x="228600" y="4096512"/>
            <a:ext cx="3566160" cy="0"/>
          </a:xfrm>
          <a:prstGeom prst="line">
            <a:avLst/>
          </a:prstGeom>
          <a:noFill/>
          <a:ln w="6350">
            <a:solidFill>
              <a:srgbClr val="2D4F7A"/>
            </a:solidFill>
            <a:prstDash val="solid"/>
          </a:ln>
        </p:spPr>
      </p:sp>
      <p:sp>
        <p:nvSpPr>
          <p:cNvPr id="15" name="Text 12"/>
          <p:cNvSpPr txBox="1"/>
          <p:nvPr/>
        </p:nvSpPr>
        <p:spPr>
          <a:xfrm>
            <a:off x="228600" y="4123944"/>
            <a:ext cx="1371600" cy="20116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[X]</a:t>
            </a:r>
            <a:endParaRPr lang="en-US" sz="1300" dirty="0"/>
          </a:p>
        </p:txBody>
      </p:sp>
      <p:sp>
        <p:nvSpPr>
          <p:cNvPr id="16" name="Text 13"/>
          <p:cNvSpPr txBox="1"/>
          <p:nvPr/>
        </p:nvSpPr>
        <p:spPr>
          <a:xfrm>
            <a:off x="1508760" y="4160520"/>
            <a:ext cx="731520" cy="146304"/>
          </a:xfrm>
          <a:prstGeom prst="rect">
            <a:avLst/>
          </a:prstGeom>
          <a:noFill/>
          <a:ln/>
        </p:spPr>
        <p:txBody>
          <a:bodyPr wrap="square" lIns="0" tIns="0" rIns="0" bIns="0" rtlCol="0" anchor="ctr"/>
          <a:lstStyle/>
          <a:p>
            <a:pPr indent="0" marL="0">
              <a:buNone/>
            </a:pPr>
            <a:r>
              <a:rPr lang="en-US" sz="700" b="1" dirty="0">
                <a:solidFill>
                  <a:srgbClr val="F5A623"/>
                </a:solidFill>
                <a:latin typeface="Arial" pitchFamily="34" charset="0"/>
                <a:ea typeface="Arial" pitchFamily="34" charset="-122"/>
                <a:cs typeface="Arial" pitchFamily="34" charset="-120"/>
              </a:rPr>
              <a:t>UNITS</a:t>
            </a:r>
            <a:endParaRPr lang="en-US" sz="700" dirty="0"/>
          </a:p>
        </p:txBody>
      </p:sp>
      <p:sp>
        <p:nvSpPr>
          <p:cNvPr id="17" name="Text 14"/>
          <p:cNvSpPr txBox="1"/>
          <p:nvPr/>
        </p:nvSpPr>
        <p:spPr>
          <a:xfrm>
            <a:off x="2743200" y="4160520"/>
            <a:ext cx="1005840" cy="146304"/>
          </a:xfrm>
          <a:prstGeom prst="rect">
            <a:avLst/>
          </a:prstGeom>
          <a:noFill/>
          <a:ln/>
        </p:spPr>
        <p:txBody>
          <a:bodyPr wrap="square" lIns="0" tIns="0" rIns="0" bIns="0" rtlCol="0" anchor="ctr"/>
          <a:lstStyle/>
          <a:p>
            <a:pPr algn="r" indent="0" marL="0">
              <a:buNone/>
            </a:pPr>
            <a:r>
              <a:rPr lang="en-US" sz="700" dirty="0">
                <a:solidFill>
                  <a:srgbClr val="D1D5DB"/>
                </a:solidFill>
                <a:latin typeface="Arial" pitchFamily="34" charset="0"/>
                <a:ea typeface="Arial" pitchFamily="34" charset="-122"/>
                <a:cs typeface="Arial" pitchFamily="34" charset="-120"/>
              </a:rPr>
              <a:t>AVAILABLE</a:t>
            </a:r>
            <a:endParaRPr lang="en-US" sz="700" dirty="0"/>
          </a:p>
        </p:txBody>
      </p:sp>
      <p:sp>
        <p:nvSpPr>
          <p:cNvPr id="18" name="Shape 15"/>
          <p:cNvSpPr/>
          <p:nvPr/>
        </p:nvSpPr>
        <p:spPr>
          <a:xfrm>
            <a:off x="228600" y="4352544"/>
            <a:ext cx="3566160" cy="0"/>
          </a:xfrm>
          <a:prstGeom prst="line">
            <a:avLst/>
          </a:prstGeom>
          <a:noFill/>
          <a:ln w="6350">
            <a:solidFill>
              <a:srgbClr val="2D4F7A"/>
            </a:solidFill>
            <a:prstDash val="solid"/>
          </a:ln>
        </p:spPr>
      </p:sp>
      <p:sp>
        <p:nvSpPr>
          <p:cNvPr id="19" name="Text 16"/>
          <p:cNvSpPr txBox="1"/>
          <p:nvPr/>
        </p:nvSpPr>
        <p:spPr>
          <a:xfrm>
            <a:off x="228600" y="4379976"/>
            <a:ext cx="1371600" cy="20116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[C-1]</a:t>
            </a:r>
            <a:endParaRPr lang="en-US" sz="1300" dirty="0"/>
          </a:p>
        </p:txBody>
      </p:sp>
      <p:sp>
        <p:nvSpPr>
          <p:cNvPr id="20" name="Text 17"/>
          <p:cNvSpPr txBox="1"/>
          <p:nvPr/>
        </p:nvSpPr>
        <p:spPr>
          <a:xfrm>
            <a:off x="1508760" y="4416552"/>
            <a:ext cx="731520" cy="146304"/>
          </a:xfrm>
          <a:prstGeom prst="rect">
            <a:avLst/>
          </a:prstGeom>
          <a:noFill/>
          <a:ln/>
        </p:spPr>
        <p:txBody>
          <a:bodyPr wrap="square" lIns="0" tIns="0" rIns="0" bIns="0" rtlCol="0" anchor="ctr"/>
          <a:lstStyle/>
          <a:p>
            <a:pPr indent="0" marL="0">
              <a:buNone/>
            </a:pPr>
            <a:r>
              <a:rPr lang="en-US" sz="700" b="1" dirty="0">
                <a:solidFill>
                  <a:srgbClr val="F5A623"/>
                </a:solidFill>
                <a:latin typeface="Arial" pitchFamily="34" charset="0"/>
                <a:ea typeface="Arial" pitchFamily="34" charset="-122"/>
                <a:cs typeface="Arial" pitchFamily="34" charset="-120"/>
              </a:rPr>
              <a:t>ZONING</a:t>
            </a:r>
            <a:endParaRPr lang="en-US" sz="700" dirty="0"/>
          </a:p>
        </p:txBody>
      </p:sp>
      <p:sp>
        <p:nvSpPr>
          <p:cNvPr id="21" name="Text 18"/>
          <p:cNvSpPr txBox="1"/>
          <p:nvPr/>
        </p:nvSpPr>
        <p:spPr>
          <a:xfrm>
            <a:off x="2743200" y="4416552"/>
            <a:ext cx="1005840" cy="146304"/>
          </a:xfrm>
          <a:prstGeom prst="rect">
            <a:avLst/>
          </a:prstGeom>
          <a:noFill/>
          <a:ln/>
        </p:spPr>
        <p:txBody>
          <a:bodyPr wrap="square" lIns="0" tIns="0" rIns="0" bIns="0" rtlCol="0" anchor="ctr"/>
          <a:lstStyle/>
          <a:p>
            <a:pPr algn="r" indent="0" marL="0">
              <a:buNone/>
            </a:pPr>
            <a:r>
              <a:rPr lang="en-US" sz="700" dirty="0">
                <a:solidFill>
                  <a:srgbClr val="D1D5DB"/>
                </a:solidFill>
                <a:latin typeface="Arial" pitchFamily="34" charset="0"/>
                <a:ea typeface="Arial" pitchFamily="34" charset="-122"/>
                <a:cs typeface="Arial" pitchFamily="34" charset="-120"/>
              </a:rPr>
              <a:t>COMMERCIAL</a:t>
            </a:r>
            <a:endParaRPr lang="en-US" sz="700" dirty="0"/>
          </a:p>
        </p:txBody>
      </p:sp>
      <p:sp>
        <p:nvSpPr>
          <p:cNvPr id="22" name="Shape 19"/>
          <p:cNvSpPr/>
          <p:nvPr/>
        </p:nvSpPr>
        <p:spPr>
          <a:xfrm>
            <a:off x="228600" y="4608576"/>
            <a:ext cx="3566160" cy="0"/>
          </a:xfrm>
          <a:prstGeom prst="line">
            <a:avLst/>
          </a:prstGeom>
          <a:noFill/>
          <a:ln w="6350">
            <a:solidFill>
              <a:srgbClr val="2D4F7A"/>
            </a:solidFill>
            <a:prstDash val="solid"/>
          </a:ln>
        </p:spPr>
      </p:sp>
      <p:sp>
        <p:nvSpPr>
          <p:cNvPr id="23" name="Text 20"/>
          <p:cNvSpPr txBox="1"/>
          <p:nvPr/>
        </p:nvSpPr>
        <p:spPr>
          <a:xfrm>
            <a:off x="228600" y="4636008"/>
            <a:ext cx="1371600" cy="20116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[XX,XXX]</a:t>
            </a:r>
            <a:endParaRPr lang="en-US" sz="1300" dirty="0"/>
          </a:p>
        </p:txBody>
      </p:sp>
      <p:sp>
        <p:nvSpPr>
          <p:cNvPr id="24" name="Text 21"/>
          <p:cNvSpPr txBox="1"/>
          <p:nvPr/>
        </p:nvSpPr>
        <p:spPr>
          <a:xfrm>
            <a:off x="1508760" y="4672584"/>
            <a:ext cx="731520" cy="146304"/>
          </a:xfrm>
          <a:prstGeom prst="rect">
            <a:avLst/>
          </a:prstGeom>
          <a:noFill/>
          <a:ln/>
        </p:spPr>
        <p:txBody>
          <a:bodyPr wrap="square" lIns="0" tIns="0" rIns="0" bIns="0" rtlCol="0" anchor="ctr"/>
          <a:lstStyle/>
          <a:p>
            <a:pPr indent="0" marL="0">
              <a:buNone/>
            </a:pPr>
            <a:r>
              <a:rPr lang="en-US" sz="700" b="1" dirty="0">
                <a:solidFill>
                  <a:srgbClr val="F5A623"/>
                </a:solidFill>
                <a:latin typeface="Arial" pitchFamily="34" charset="0"/>
                <a:ea typeface="Arial" pitchFamily="34" charset="-122"/>
                <a:cs typeface="Arial" pitchFamily="34" charset="-120"/>
              </a:rPr>
              <a:t>VPD</a:t>
            </a:r>
            <a:endParaRPr lang="en-US" sz="700" dirty="0"/>
          </a:p>
        </p:txBody>
      </p:sp>
      <p:sp>
        <p:nvSpPr>
          <p:cNvPr id="25" name="Text 22"/>
          <p:cNvSpPr txBox="1"/>
          <p:nvPr/>
        </p:nvSpPr>
        <p:spPr>
          <a:xfrm>
            <a:off x="2743200" y="4672584"/>
            <a:ext cx="1005840" cy="146304"/>
          </a:xfrm>
          <a:prstGeom prst="rect">
            <a:avLst/>
          </a:prstGeom>
          <a:noFill/>
          <a:ln/>
        </p:spPr>
        <p:txBody>
          <a:bodyPr wrap="square" lIns="0" tIns="0" rIns="0" bIns="0" rtlCol="0" anchor="ctr"/>
          <a:lstStyle/>
          <a:p>
            <a:pPr algn="r" indent="0" marL="0">
              <a:buNone/>
            </a:pPr>
            <a:r>
              <a:rPr lang="en-US" sz="700" dirty="0">
                <a:solidFill>
                  <a:srgbClr val="D1D5DB"/>
                </a:solidFill>
                <a:latin typeface="Arial" pitchFamily="34" charset="0"/>
                <a:ea typeface="Arial" pitchFamily="34" charset="-122"/>
                <a:cs typeface="Arial" pitchFamily="34" charset="-120"/>
              </a:rPr>
              <a:t>REF. CORRIDOR</a:t>
            </a:r>
            <a:endParaRPr lang="en-US" sz="700" dirty="0"/>
          </a:p>
        </p:txBody>
      </p:sp>
      <p:sp>
        <p:nvSpPr>
          <p:cNvPr id="26" name="Shape 23"/>
          <p:cNvSpPr/>
          <p:nvPr/>
        </p:nvSpPr>
        <p:spPr>
          <a:xfrm>
            <a:off x="4114800" y="0"/>
            <a:ext cx="5029200" cy="4114800"/>
          </a:xfrm>
          <a:prstGeom prst="rect">
            <a:avLst/>
          </a:prstGeom>
          <a:solidFill>
            <a:srgbClr val="D1D5DB"/>
          </a:solidFill>
          <a:ln/>
        </p:spPr>
      </p:sp>
      <p:sp>
        <p:nvSpPr>
          <p:cNvPr id="27" name="Text 24"/>
          <p:cNvSpPr txBox="1"/>
          <p:nvPr/>
        </p:nvSpPr>
        <p:spPr>
          <a:xfrm>
            <a:off x="4114800" y="1737360"/>
            <a:ext cx="5029200" cy="365760"/>
          </a:xfrm>
          <a:prstGeom prst="rect">
            <a:avLst/>
          </a:prstGeom>
          <a:noFill/>
          <a:ln/>
        </p:spPr>
        <p:txBody>
          <a:bodyPr wrap="square" lIns="0" tIns="0" rIns="0" bIns="0" rtlCol="0" anchor="ctr"/>
          <a:lstStyle/>
          <a:p>
            <a:pPr algn="ctr" indent="0" marL="0">
              <a:buNone/>
            </a:pPr>
            <a:r>
              <a:rPr lang="en-US" sz="1400" dirty="0">
                <a:solidFill>
                  <a:srgbClr val="9CA3AF"/>
                </a:solidFill>
                <a:latin typeface="Arial" pitchFamily="34" charset="0"/>
                <a:ea typeface="Arial" pitchFamily="34" charset="-122"/>
                <a:cs typeface="Arial" pitchFamily="34" charset="-120"/>
              </a:rPr>
              <a:t>[ AERIAL PHOTO ]</a:t>
            </a:r>
            <a:endParaRPr lang="en-US" sz="1400" dirty="0"/>
          </a:p>
        </p:txBody>
      </p:sp>
      <p:sp>
        <p:nvSpPr>
          <p:cNvPr id="28" name="Shape 25"/>
          <p:cNvSpPr/>
          <p:nvPr/>
        </p:nvSpPr>
        <p:spPr>
          <a:xfrm>
            <a:off x="4160520" y="4160520"/>
            <a:ext cx="1645920" cy="320040"/>
          </a:xfrm>
          <a:prstGeom prst="rect">
            <a:avLst/>
          </a:prstGeom>
          <a:solidFill>
            <a:srgbClr val="FFFFFF"/>
          </a:solidFill>
          <a:ln w="12700">
            <a:solidFill>
              <a:srgbClr val="F5A623"/>
            </a:solidFill>
            <a:prstDash val="solid"/>
          </a:ln>
        </p:spPr>
      </p:sp>
      <p:sp>
        <p:nvSpPr>
          <p:cNvPr id="29" name="Text 26"/>
          <p:cNvSpPr txBox="1"/>
          <p:nvPr/>
        </p:nvSpPr>
        <p:spPr>
          <a:xfrm>
            <a:off x="4160520" y="4160520"/>
            <a:ext cx="1645920" cy="320040"/>
          </a:xfrm>
          <a:prstGeom prst="rect">
            <a:avLst/>
          </a:prstGeom>
          <a:noFill/>
          <a:ln/>
        </p:spPr>
        <p:txBody>
          <a:bodyPr wrap="square" lIns="0" tIns="0" rIns="0" bIns="0" rtlCol="0" anchor="ctr"/>
          <a:lstStyle/>
          <a:p>
            <a:pPr algn="ctr" indent="0" marL="0">
              <a:buNone/>
            </a:pPr>
            <a:r>
              <a:rPr lang="en-US" sz="750" b="1" dirty="0">
                <a:solidFill>
                  <a:srgbClr val="1F3A5F"/>
                </a:solidFill>
                <a:latin typeface="Arial" pitchFamily="34" charset="0"/>
                <a:ea typeface="Arial" pitchFamily="34" charset="-122"/>
                <a:cs typeface="Arial" pitchFamily="34" charset="-120"/>
              </a:rPr>
              <a:t>DEVELOPMENT READY</a:t>
            </a:r>
            <a:endParaRPr lang="en-US" sz="750" dirty="0"/>
          </a:p>
        </p:txBody>
      </p:sp>
      <p:sp>
        <p:nvSpPr>
          <p:cNvPr id="30" name="Shape 27"/>
          <p:cNvSpPr/>
          <p:nvPr/>
        </p:nvSpPr>
        <p:spPr>
          <a:xfrm>
            <a:off x="5852160" y="4160520"/>
            <a:ext cx="1645920" cy="320040"/>
          </a:xfrm>
          <a:prstGeom prst="rect">
            <a:avLst/>
          </a:prstGeom>
          <a:solidFill>
            <a:srgbClr val="FFFFFF"/>
          </a:solidFill>
          <a:ln w="12700">
            <a:solidFill>
              <a:srgbClr val="F5A623"/>
            </a:solidFill>
            <a:prstDash val="solid"/>
          </a:ln>
        </p:spPr>
      </p:sp>
      <p:sp>
        <p:nvSpPr>
          <p:cNvPr id="31" name="Text 28"/>
          <p:cNvSpPr txBox="1"/>
          <p:nvPr/>
        </p:nvSpPr>
        <p:spPr>
          <a:xfrm>
            <a:off x="5852160" y="4160520"/>
            <a:ext cx="1645920" cy="320040"/>
          </a:xfrm>
          <a:prstGeom prst="rect">
            <a:avLst/>
          </a:prstGeom>
          <a:noFill/>
          <a:ln/>
        </p:spPr>
        <p:txBody>
          <a:bodyPr wrap="square" lIns="0" tIns="0" rIns="0" bIns="0" rtlCol="0" anchor="ctr"/>
          <a:lstStyle/>
          <a:p>
            <a:pPr algn="ctr" indent="0" marL="0">
              <a:buNone/>
            </a:pPr>
            <a:r>
              <a:rPr lang="en-US" sz="750" b="1" dirty="0">
                <a:solidFill>
                  <a:srgbClr val="1F3A5F"/>
                </a:solidFill>
                <a:latin typeface="Arial" pitchFamily="34" charset="0"/>
                <a:ea typeface="Arial" pitchFamily="34" charset="-122"/>
                <a:cs typeface="Arial" pitchFamily="34" charset="-120"/>
              </a:rPr>
              <a:t>PRIME LOCATION</a:t>
            </a:r>
            <a:endParaRPr lang="en-US" sz="750" dirty="0"/>
          </a:p>
        </p:txBody>
      </p:sp>
      <p:sp>
        <p:nvSpPr>
          <p:cNvPr id="32" name="Shape 29"/>
          <p:cNvSpPr/>
          <p:nvPr/>
        </p:nvSpPr>
        <p:spPr>
          <a:xfrm>
            <a:off x="7543800" y="4160520"/>
            <a:ext cx="1645920" cy="320040"/>
          </a:xfrm>
          <a:prstGeom prst="rect">
            <a:avLst/>
          </a:prstGeom>
          <a:solidFill>
            <a:srgbClr val="FFFFFF"/>
          </a:solidFill>
          <a:ln w="12700">
            <a:solidFill>
              <a:srgbClr val="F5A623"/>
            </a:solidFill>
            <a:prstDash val="solid"/>
          </a:ln>
        </p:spPr>
      </p:sp>
      <p:sp>
        <p:nvSpPr>
          <p:cNvPr id="33" name="Text 30"/>
          <p:cNvSpPr txBox="1"/>
          <p:nvPr/>
        </p:nvSpPr>
        <p:spPr>
          <a:xfrm>
            <a:off x="7543800" y="4160520"/>
            <a:ext cx="1645920" cy="320040"/>
          </a:xfrm>
          <a:prstGeom prst="rect">
            <a:avLst/>
          </a:prstGeom>
          <a:noFill/>
          <a:ln/>
        </p:spPr>
        <p:txBody>
          <a:bodyPr wrap="square" lIns="0" tIns="0" rIns="0" bIns="0" rtlCol="0" anchor="ctr"/>
          <a:lstStyle/>
          <a:p>
            <a:pPr algn="ctr" indent="0" marL="0">
              <a:buNone/>
            </a:pPr>
            <a:r>
              <a:rPr lang="en-US" sz="750" b="1" dirty="0">
                <a:solidFill>
                  <a:srgbClr val="1F3A5F"/>
                </a:solidFill>
                <a:latin typeface="Arial" pitchFamily="34" charset="0"/>
                <a:ea typeface="Arial" pitchFamily="34" charset="-122"/>
                <a:cs typeface="Arial" pitchFamily="34" charset="-120"/>
              </a:rPr>
              <a:t>HIGH-GROWTH CORRIDOR</a:t>
            </a:r>
            <a:endParaRPr lang="en-US" sz="750" dirty="0"/>
          </a:p>
        </p:txBody>
      </p:sp>
      <p:sp>
        <p:nvSpPr>
          <p:cNvPr id="34" name="Shape 31"/>
          <p:cNvSpPr/>
          <p:nvPr/>
        </p:nvSpPr>
        <p:spPr>
          <a:xfrm>
            <a:off x="0" y="4526280"/>
            <a:ext cx="9144000" cy="617220"/>
          </a:xfrm>
          <a:prstGeom prst="rect">
            <a:avLst/>
          </a:prstGeom>
          <a:solidFill>
            <a:srgbClr val="111827"/>
          </a:solidFill>
          <a:ln/>
        </p:spPr>
      </p:sp>
      <p:pic>
        <p:nvPicPr>
          <p:cNvPr id="35" name="Image 1" descr="/home/claude/logo.png">    </p:cNvPr>
          <p:cNvPicPr>
            <a:picLocks noChangeAspect="1"/>
          </p:cNvPicPr>
          <p:nvPr/>
        </p:nvPicPr>
        <p:blipFill>
          <a:blip r:embed="rId2"/>
          <a:stretch>
            <a:fillRect/>
          </a:stretch>
        </p:blipFill>
        <p:spPr>
          <a:xfrm>
            <a:off x="182880" y="4572000"/>
            <a:ext cx="1371600" cy="502920"/>
          </a:xfrm>
          <a:prstGeom prst="rect">
            <a:avLst/>
          </a:prstGeom>
        </p:spPr>
      </p:pic>
      <p:sp>
        <p:nvSpPr>
          <p:cNvPr id="36" name="Text 32"/>
          <p:cNvSpPr txBox="1"/>
          <p:nvPr/>
        </p:nvSpPr>
        <p:spPr>
          <a:xfrm>
            <a:off x="1691640" y="4572000"/>
            <a:ext cx="3200400" cy="256032"/>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LIFE LONG PROPERTY MANAGEMENT</a:t>
            </a:r>
            <a:endParaRPr lang="en-US" sz="900" dirty="0"/>
          </a:p>
        </p:txBody>
      </p:sp>
      <p:sp>
        <p:nvSpPr>
          <p:cNvPr id="37" name="Text 33"/>
          <p:cNvSpPr txBox="1"/>
          <p:nvPr/>
        </p:nvSpPr>
        <p:spPr>
          <a:xfrm>
            <a:off x="1691640" y="4828032"/>
            <a:ext cx="3200400" cy="201168"/>
          </a:xfrm>
          <a:prstGeom prst="rect">
            <a:avLst/>
          </a:prstGeom>
          <a:noFill/>
          <a:ln/>
        </p:spPr>
        <p:txBody>
          <a:bodyPr wrap="square" lIns="0" tIns="0" rIns="0" bIns="0" rtlCol="0" anchor="ctr"/>
          <a:lstStyle/>
          <a:p>
            <a:pPr indent="0" marL="0">
              <a:buNone/>
            </a:pPr>
            <a:r>
              <a:rPr lang="en-US" sz="800" dirty="0">
                <a:solidFill>
                  <a:srgbClr val="D1D5DB"/>
                </a:solidFill>
                <a:latin typeface="Arial" pitchFamily="34" charset="0"/>
                <a:ea typeface="Arial" pitchFamily="34" charset="-122"/>
                <a:cs typeface="Arial" pitchFamily="34" charset="-120"/>
              </a:rPr>
              <a:t>Central Texas Commercial Real Estate</a:t>
            </a:r>
            <a:endParaRPr lang="en-US" sz="800" dirty="0"/>
          </a:p>
        </p:txBody>
      </p:sp>
      <p:sp>
        <p:nvSpPr>
          <p:cNvPr id="38" name="Text 34"/>
          <p:cNvSpPr txBox="1"/>
          <p:nvPr/>
        </p:nvSpPr>
        <p:spPr>
          <a:xfrm>
            <a:off x="5029200" y="4663440"/>
            <a:ext cx="3931920" cy="274320"/>
          </a:xfrm>
          <a:prstGeom prst="rect">
            <a:avLst/>
          </a:prstGeom>
          <a:noFill/>
          <a:ln/>
        </p:spPr>
        <p:txBody>
          <a:bodyPr wrap="square" lIns="0" tIns="0" rIns="0" bIns="0" rtlCol="0" anchor="ctr"/>
          <a:lstStyle/>
          <a:p>
            <a:pPr algn="r" indent="0" marL="0">
              <a:buNone/>
            </a:pPr>
            <a:r>
              <a:rPr lang="en-US" sz="800" dirty="0">
                <a:solidFill>
                  <a:srgbClr val="D1D5DB"/>
                </a:solidFill>
                <a:latin typeface="Arial" pitchFamily="34" charset="0"/>
                <a:ea typeface="Arial" pitchFamily="34" charset="-122"/>
                <a:cs typeface="Arial" pitchFamily="34" charset="-120"/>
              </a:rPr>
              <a:t>[CONTACT NAME]  •  (512) 892-6001  •  pm@lifelongpm.com</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F3A5F"/>
          </a:solidFill>
          <a:ln/>
        </p:spPr>
      </p:sp>
      <p:pic>
        <p:nvPicPr>
          <p:cNvPr id="3" name="Image 0" descr="/home/claude/logo.png">    </p:cNvPr>
          <p:cNvPicPr>
            <a:picLocks noChangeAspect="1"/>
          </p:cNvPicPr>
          <p:nvPr/>
        </p:nvPicPr>
        <p:blipFill>
          <a:blip r:embed="rId1"/>
          <a:stretch>
            <a:fillRect/>
          </a:stretch>
        </p:blipFill>
        <p:spPr>
          <a:xfrm>
            <a:off x="137160" y="36576"/>
            <a:ext cx="1005840" cy="429768"/>
          </a:xfrm>
          <a:prstGeom prst="rect">
            <a:avLst/>
          </a:prstGeom>
        </p:spPr>
      </p:pic>
      <p:sp>
        <p:nvSpPr>
          <p:cNvPr id="4" name="Text 1"/>
          <p:cNvSpPr txBox="1"/>
          <p:nvPr/>
        </p:nvSpPr>
        <p:spPr>
          <a:xfrm>
            <a:off x="1280160" y="0"/>
            <a:ext cx="585216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[ADDRESS] • [CITY], TX</a:t>
            </a:r>
            <a:endParaRPr lang="en-US" sz="900" dirty="0"/>
          </a:p>
        </p:txBody>
      </p:sp>
      <p:sp>
        <p:nvSpPr>
          <p:cNvPr id="5" name="Shape 2"/>
          <p:cNvSpPr/>
          <p:nvPr/>
        </p:nvSpPr>
        <p:spPr>
          <a:xfrm>
            <a:off x="7406640" y="0"/>
            <a:ext cx="1737360" cy="502920"/>
          </a:xfrm>
          <a:prstGeom prst="rect">
            <a:avLst/>
          </a:prstGeom>
          <a:solidFill>
            <a:srgbClr val="C85A17"/>
          </a:solidFill>
          <a:ln/>
        </p:spPr>
      </p:sp>
      <p:sp>
        <p:nvSpPr>
          <p:cNvPr id="6" name="Text 3"/>
          <p:cNvSpPr txBox="1"/>
          <p:nvPr/>
        </p:nvSpPr>
        <p:spPr>
          <a:xfrm>
            <a:off x="7406640" y="0"/>
            <a:ext cx="1737360" cy="5029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PROPERTY OVERVIEW</a:t>
            </a:r>
            <a:endParaRPr lang="en-US" sz="800" dirty="0"/>
          </a:p>
        </p:txBody>
      </p:sp>
      <p:sp>
        <p:nvSpPr>
          <p:cNvPr id="7" name="Shape 4"/>
          <p:cNvSpPr/>
          <p:nvPr/>
        </p:nvSpPr>
        <p:spPr>
          <a:xfrm>
            <a:off x="0" y="4892040"/>
            <a:ext cx="9144000" cy="251460"/>
          </a:xfrm>
          <a:prstGeom prst="rect">
            <a:avLst/>
          </a:prstGeom>
          <a:solidFill>
            <a:srgbClr val="1F3A5F"/>
          </a:solidFill>
          <a:ln/>
        </p:spPr>
      </p:sp>
      <p:sp>
        <p:nvSpPr>
          <p:cNvPr id="8" name="Text 5"/>
          <p:cNvSpPr txBox="1"/>
          <p:nvPr/>
        </p:nvSpPr>
        <p:spPr>
          <a:xfrm>
            <a:off x="137160" y="4892040"/>
            <a:ext cx="6400800" cy="251460"/>
          </a:xfrm>
          <a:prstGeom prst="rect">
            <a:avLst/>
          </a:prstGeom>
          <a:noFill/>
          <a:ln/>
        </p:spPr>
        <p:txBody>
          <a:bodyPr wrap="square" lIns="0" tIns="0" rIns="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[CONTACT NAME]  •  (512) 892-6001  •  pm@lifelongpm.com</a:t>
            </a:r>
            <a:endParaRPr lang="en-US" sz="750" dirty="0"/>
          </a:p>
        </p:txBody>
      </p:sp>
      <p:sp>
        <p:nvSpPr>
          <p:cNvPr id="9" name="Text 6"/>
          <p:cNvSpPr txBox="1"/>
          <p:nvPr/>
        </p:nvSpPr>
        <p:spPr>
          <a:xfrm>
            <a:off x="8686800" y="4892040"/>
            <a:ext cx="411480" cy="251460"/>
          </a:xfrm>
          <a:prstGeom prst="rect">
            <a:avLst/>
          </a:prstGeom>
          <a:noFill/>
          <a:ln/>
        </p:spPr>
        <p:txBody>
          <a:bodyPr wrap="square" lIns="0" tIns="0" rIns="0" bIns="0" rtlCol="0" anchor="ctr"/>
          <a:lstStyle/>
          <a:p>
            <a:pPr algn="r" indent="0" marL="0">
              <a:buNone/>
            </a:pPr>
            <a:r>
              <a:rPr lang="en-US" sz="750" dirty="0">
                <a:solidFill>
                  <a:srgbClr val="D1D5DB"/>
                </a:solidFill>
                <a:latin typeface="Arial" pitchFamily="34" charset="0"/>
                <a:ea typeface="Arial" pitchFamily="34" charset="-122"/>
                <a:cs typeface="Arial" pitchFamily="34" charset="-120"/>
              </a:rPr>
              <a:t>2/5</a:t>
            </a:r>
            <a:endParaRPr lang="en-US" sz="750" dirty="0"/>
          </a:p>
        </p:txBody>
      </p:sp>
      <p:sp>
        <p:nvSpPr>
          <p:cNvPr id="10" name="Text 7"/>
          <p:cNvSpPr txBox="1"/>
          <p:nvPr/>
        </p:nvSpPr>
        <p:spPr>
          <a:xfrm>
            <a:off x="228600" y="594360"/>
            <a:ext cx="4572000" cy="347472"/>
          </a:xfrm>
          <a:prstGeom prst="rect">
            <a:avLst/>
          </a:prstGeom>
          <a:noFill/>
          <a:ln/>
        </p:spPr>
        <p:txBody>
          <a:bodyPr wrap="square" lIns="0" tIns="0" rIns="0" bIns="0" rtlCol="0" anchor="ctr"/>
          <a:lstStyle/>
          <a:p>
            <a:pPr indent="0" marL="0">
              <a:buNone/>
            </a:pPr>
            <a:r>
              <a:rPr lang="en-US" sz="1800" b="1" dirty="0">
                <a:solidFill>
                  <a:srgbClr val="1F3A5F"/>
                </a:solidFill>
                <a:latin typeface="Arial" pitchFamily="34" charset="0"/>
                <a:ea typeface="Arial" pitchFamily="34" charset="-122"/>
                <a:cs typeface="Arial" pitchFamily="34" charset="-120"/>
              </a:rPr>
              <a:t>PROPERTY </a:t>
            </a:r>
            <a:pPr indent="0" marL="0">
              <a:buNone/>
            </a:pPr>
            <a:r>
              <a:rPr lang="en-US" sz="1800" b="1" dirty="0">
                <a:solidFill>
                  <a:srgbClr val="C85A17"/>
                </a:solidFill>
                <a:latin typeface="Arial" pitchFamily="34" charset="0"/>
                <a:ea typeface="Arial" pitchFamily="34" charset="-122"/>
                <a:cs typeface="Arial" pitchFamily="34" charset="-120"/>
              </a:rPr>
              <a:t>OVERVIEW</a:t>
            </a:r>
            <a:endParaRPr lang="en-US" sz="1800" dirty="0"/>
          </a:p>
        </p:txBody>
      </p:sp>
      <p:sp>
        <p:nvSpPr>
          <p:cNvPr id="11" name="Shape 8"/>
          <p:cNvSpPr/>
          <p:nvPr/>
        </p:nvSpPr>
        <p:spPr>
          <a:xfrm>
            <a:off x="228600" y="1005840"/>
            <a:ext cx="1600200" cy="777240"/>
          </a:xfrm>
          <a:prstGeom prst="rect">
            <a:avLst/>
          </a:prstGeom>
          <a:solidFill>
            <a:srgbClr val="F4F5F7"/>
          </a:solidFill>
          <a:ln w="6350">
            <a:solidFill>
              <a:srgbClr val="D1D5DB"/>
            </a:solidFill>
            <a:prstDash val="solid"/>
          </a:ln>
        </p:spPr>
      </p:sp>
      <p:sp>
        <p:nvSpPr>
          <p:cNvPr id="12" name="Text 9"/>
          <p:cNvSpPr txBox="1"/>
          <p:nvPr/>
        </p:nvSpPr>
        <p:spPr>
          <a:xfrm>
            <a:off x="228600" y="1024128"/>
            <a:ext cx="1600200" cy="164592"/>
          </a:xfrm>
          <a:prstGeom prst="rect">
            <a:avLst/>
          </a:prstGeom>
          <a:noFill/>
          <a:ln/>
        </p:spPr>
        <p:txBody>
          <a:bodyPr wrap="square" lIns="0" tIns="0" rIns="0" bIns="0" rtlCol="0" anchor="ctr"/>
          <a:lstStyle/>
          <a:p>
            <a:pPr algn="ctr" indent="0" marL="0">
              <a:buNone/>
            </a:pPr>
            <a:r>
              <a:rPr lang="en-US" sz="650" b="1" dirty="0">
                <a:solidFill>
                  <a:srgbClr val="C85A17"/>
                </a:solidFill>
                <a:latin typeface="Arial" pitchFamily="34" charset="0"/>
                <a:ea typeface="Arial" pitchFamily="34" charset="-122"/>
                <a:cs typeface="Arial" pitchFamily="34" charset="-120"/>
              </a:rPr>
              <a:t>SIZE</a:t>
            </a:r>
            <a:endParaRPr lang="en-US" sz="650" dirty="0"/>
          </a:p>
        </p:txBody>
      </p:sp>
      <p:sp>
        <p:nvSpPr>
          <p:cNvPr id="13" name="Text 10"/>
          <p:cNvSpPr txBox="1"/>
          <p:nvPr/>
        </p:nvSpPr>
        <p:spPr>
          <a:xfrm>
            <a:off x="228600" y="1188720"/>
            <a:ext cx="1600200" cy="320040"/>
          </a:xfrm>
          <a:prstGeom prst="rect">
            <a:avLst/>
          </a:prstGeom>
          <a:noFill/>
          <a:ln/>
        </p:spPr>
        <p:txBody>
          <a:bodyPr wrap="square" lIns="0" tIns="0" rIns="0" bIns="0" rtlCol="0" anchor="ctr"/>
          <a:lstStyle/>
          <a:p>
            <a:pPr algn="ctr" indent="0" marL="0">
              <a:buNone/>
            </a:pPr>
            <a:r>
              <a:rPr lang="en-US" sz="1600" b="1" dirty="0">
                <a:solidFill>
                  <a:srgbClr val="1F3A5F"/>
                </a:solidFill>
                <a:latin typeface="Arial" pitchFamily="34" charset="0"/>
                <a:ea typeface="Arial" pitchFamily="34" charset="-122"/>
                <a:cs typeface="Arial" pitchFamily="34" charset="-120"/>
              </a:rPr>
              <a:t>[XX,XXX] SF</a:t>
            </a:r>
            <a:endParaRPr lang="en-US" sz="1600" dirty="0"/>
          </a:p>
        </p:txBody>
      </p:sp>
      <p:sp>
        <p:nvSpPr>
          <p:cNvPr id="14" name="Text 11"/>
          <p:cNvSpPr txBox="1"/>
          <p:nvPr/>
        </p:nvSpPr>
        <p:spPr>
          <a:xfrm>
            <a:off x="228600" y="1508760"/>
            <a:ext cx="1600200" cy="164592"/>
          </a:xfrm>
          <a:prstGeom prst="rect">
            <a:avLst/>
          </a:prstGeom>
          <a:noFill/>
          <a:ln/>
        </p:spPr>
        <p:txBody>
          <a:bodyPr wrap="square" lIns="0" tIns="0" rIns="0" bIns="0" rtlCol="0" anchor="ctr"/>
          <a:lstStyle/>
          <a:p>
            <a:pPr algn="ctr" indent="0" marL="0">
              <a:buNone/>
            </a:pPr>
            <a:r>
              <a:rPr lang="en-US" sz="600" dirty="0">
                <a:solidFill>
                  <a:srgbClr val="4B5563"/>
                </a:solidFill>
                <a:latin typeface="Arial" pitchFamily="34" charset="0"/>
                <a:ea typeface="Arial" pitchFamily="34" charset="-122"/>
                <a:cs typeface="Arial" pitchFamily="34" charset="-120"/>
              </a:rPr>
              <a:t>TOTAL LEASABLE</a:t>
            </a:r>
            <a:endParaRPr lang="en-US" sz="600" dirty="0"/>
          </a:p>
        </p:txBody>
      </p:sp>
      <p:sp>
        <p:nvSpPr>
          <p:cNvPr id="15" name="Shape 12"/>
          <p:cNvSpPr/>
          <p:nvPr/>
        </p:nvSpPr>
        <p:spPr>
          <a:xfrm>
            <a:off x="1965960" y="1005840"/>
            <a:ext cx="1600200" cy="777240"/>
          </a:xfrm>
          <a:prstGeom prst="rect">
            <a:avLst/>
          </a:prstGeom>
          <a:solidFill>
            <a:srgbClr val="F4F5F7"/>
          </a:solidFill>
          <a:ln w="6350">
            <a:solidFill>
              <a:srgbClr val="D1D5DB"/>
            </a:solidFill>
            <a:prstDash val="solid"/>
          </a:ln>
        </p:spPr>
      </p:sp>
      <p:sp>
        <p:nvSpPr>
          <p:cNvPr id="16" name="Text 13"/>
          <p:cNvSpPr txBox="1"/>
          <p:nvPr/>
        </p:nvSpPr>
        <p:spPr>
          <a:xfrm>
            <a:off x="1965960" y="1024128"/>
            <a:ext cx="1600200" cy="164592"/>
          </a:xfrm>
          <a:prstGeom prst="rect">
            <a:avLst/>
          </a:prstGeom>
          <a:noFill/>
          <a:ln/>
        </p:spPr>
        <p:txBody>
          <a:bodyPr wrap="square" lIns="0" tIns="0" rIns="0" bIns="0" rtlCol="0" anchor="ctr"/>
          <a:lstStyle/>
          <a:p>
            <a:pPr algn="ctr" indent="0" marL="0">
              <a:buNone/>
            </a:pPr>
            <a:r>
              <a:rPr lang="en-US" sz="650" b="1" dirty="0">
                <a:solidFill>
                  <a:srgbClr val="C85A17"/>
                </a:solidFill>
                <a:latin typeface="Arial" pitchFamily="34" charset="0"/>
                <a:ea typeface="Arial" pitchFamily="34" charset="-122"/>
                <a:cs typeface="Arial" pitchFamily="34" charset="-120"/>
              </a:rPr>
              <a:t>SPACES</a:t>
            </a:r>
            <a:endParaRPr lang="en-US" sz="650" dirty="0"/>
          </a:p>
        </p:txBody>
      </p:sp>
      <p:sp>
        <p:nvSpPr>
          <p:cNvPr id="17" name="Text 14"/>
          <p:cNvSpPr txBox="1"/>
          <p:nvPr/>
        </p:nvSpPr>
        <p:spPr>
          <a:xfrm>
            <a:off x="1965960" y="1188720"/>
            <a:ext cx="1600200" cy="320040"/>
          </a:xfrm>
          <a:prstGeom prst="rect">
            <a:avLst/>
          </a:prstGeom>
          <a:noFill/>
          <a:ln/>
        </p:spPr>
        <p:txBody>
          <a:bodyPr wrap="square" lIns="0" tIns="0" rIns="0" bIns="0" rtlCol="0" anchor="ctr"/>
          <a:lstStyle/>
          <a:p>
            <a:pPr algn="ctr" indent="0" marL="0">
              <a:buNone/>
            </a:pPr>
            <a:r>
              <a:rPr lang="en-US" sz="1600" b="1" dirty="0">
                <a:solidFill>
                  <a:srgbClr val="1F3A5F"/>
                </a:solidFill>
                <a:latin typeface="Arial" pitchFamily="34" charset="0"/>
                <a:ea typeface="Arial" pitchFamily="34" charset="-122"/>
                <a:cs typeface="Arial" pitchFamily="34" charset="-120"/>
              </a:rPr>
              <a:t>[X]</a:t>
            </a:r>
            <a:endParaRPr lang="en-US" sz="1600" dirty="0"/>
          </a:p>
        </p:txBody>
      </p:sp>
      <p:sp>
        <p:nvSpPr>
          <p:cNvPr id="18" name="Text 15"/>
          <p:cNvSpPr txBox="1"/>
          <p:nvPr/>
        </p:nvSpPr>
        <p:spPr>
          <a:xfrm>
            <a:off x="1965960" y="1508760"/>
            <a:ext cx="1600200" cy="164592"/>
          </a:xfrm>
          <a:prstGeom prst="rect">
            <a:avLst/>
          </a:prstGeom>
          <a:noFill/>
          <a:ln/>
        </p:spPr>
        <p:txBody>
          <a:bodyPr wrap="square" lIns="0" tIns="0" rIns="0" bIns="0" rtlCol="0" anchor="ctr"/>
          <a:lstStyle/>
          <a:p>
            <a:pPr algn="ctr" indent="0" marL="0">
              <a:buNone/>
            </a:pPr>
            <a:r>
              <a:rPr lang="en-US" sz="600" dirty="0">
                <a:solidFill>
                  <a:srgbClr val="4B5563"/>
                </a:solidFill>
                <a:latin typeface="Arial" pitchFamily="34" charset="0"/>
                <a:ea typeface="Arial" pitchFamily="34" charset="-122"/>
                <a:cs typeface="Arial" pitchFamily="34" charset="-120"/>
              </a:rPr>
              <a:t>AVAILABLE UNITS</a:t>
            </a:r>
            <a:endParaRPr lang="en-US" sz="600" dirty="0"/>
          </a:p>
        </p:txBody>
      </p:sp>
      <p:sp>
        <p:nvSpPr>
          <p:cNvPr id="19" name="Shape 16"/>
          <p:cNvSpPr/>
          <p:nvPr/>
        </p:nvSpPr>
        <p:spPr>
          <a:xfrm>
            <a:off x="3703320" y="1005840"/>
            <a:ext cx="1600200" cy="777240"/>
          </a:xfrm>
          <a:prstGeom prst="rect">
            <a:avLst/>
          </a:prstGeom>
          <a:solidFill>
            <a:srgbClr val="F4F5F7"/>
          </a:solidFill>
          <a:ln w="6350">
            <a:solidFill>
              <a:srgbClr val="D1D5DB"/>
            </a:solidFill>
            <a:prstDash val="solid"/>
          </a:ln>
        </p:spPr>
      </p:sp>
      <p:sp>
        <p:nvSpPr>
          <p:cNvPr id="20" name="Text 17"/>
          <p:cNvSpPr txBox="1"/>
          <p:nvPr/>
        </p:nvSpPr>
        <p:spPr>
          <a:xfrm>
            <a:off x="3703320" y="1024128"/>
            <a:ext cx="1600200" cy="164592"/>
          </a:xfrm>
          <a:prstGeom prst="rect">
            <a:avLst/>
          </a:prstGeom>
          <a:noFill/>
          <a:ln/>
        </p:spPr>
        <p:txBody>
          <a:bodyPr wrap="square" lIns="0" tIns="0" rIns="0" bIns="0" rtlCol="0" anchor="ctr"/>
          <a:lstStyle/>
          <a:p>
            <a:pPr algn="ctr" indent="0" marL="0">
              <a:buNone/>
            </a:pPr>
            <a:r>
              <a:rPr lang="en-US" sz="650" b="1" dirty="0">
                <a:solidFill>
                  <a:srgbClr val="C85A17"/>
                </a:solidFill>
                <a:latin typeface="Arial" pitchFamily="34" charset="0"/>
                <a:ea typeface="Arial" pitchFamily="34" charset="-122"/>
                <a:cs typeface="Arial" pitchFamily="34" charset="-120"/>
              </a:rPr>
              <a:t>ZONING</a:t>
            </a:r>
            <a:endParaRPr lang="en-US" sz="650" dirty="0"/>
          </a:p>
        </p:txBody>
      </p:sp>
      <p:sp>
        <p:nvSpPr>
          <p:cNvPr id="21" name="Text 18"/>
          <p:cNvSpPr txBox="1"/>
          <p:nvPr/>
        </p:nvSpPr>
        <p:spPr>
          <a:xfrm>
            <a:off x="3703320" y="1188720"/>
            <a:ext cx="1600200" cy="320040"/>
          </a:xfrm>
          <a:prstGeom prst="rect">
            <a:avLst/>
          </a:prstGeom>
          <a:noFill/>
          <a:ln/>
        </p:spPr>
        <p:txBody>
          <a:bodyPr wrap="square" lIns="0" tIns="0" rIns="0" bIns="0" rtlCol="0" anchor="ctr"/>
          <a:lstStyle/>
          <a:p>
            <a:pPr algn="ctr" indent="0" marL="0">
              <a:buNone/>
            </a:pPr>
            <a:r>
              <a:rPr lang="en-US" sz="1600" b="1" dirty="0">
                <a:solidFill>
                  <a:srgbClr val="1F3A5F"/>
                </a:solidFill>
                <a:latin typeface="Arial" pitchFamily="34" charset="0"/>
                <a:ea typeface="Arial" pitchFamily="34" charset="-122"/>
                <a:cs typeface="Arial" pitchFamily="34" charset="-120"/>
              </a:rPr>
              <a:t>[C-1]</a:t>
            </a:r>
            <a:endParaRPr lang="en-US" sz="1600" dirty="0"/>
          </a:p>
        </p:txBody>
      </p:sp>
      <p:sp>
        <p:nvSpPr>
          <p:cNvPr id="22" name="Text 19"/>
          <p:cNvSpPr txBox="1"/>
          <p:nvPr/>
        </p:nvSpPr>
        <p:spPr>
          <a:xfrm>
            <a:off x="3703320" y="1508760"/>
            <a:ext cx="1600200" cy="164592"/>
          </a:xfrm>
          <a:prstGeom prst="rect">
            <a:avLst/>
          </a:prstGeom>
          <a:noFill/>
          <a:ln/>
        </p:spPr>
        <p:txBody>
          <a:bodyPr wrap="square" lIns="0" tIns="0" rIns="0" bIns="0" rtlCol="0" anchor="ctr"/>
          <a:lstStyle/>
          <a:p>
            <a:pPr algn="ctr" indent="0" marL="0">
              <a:buNone/>
            </a:pPr>
            <a:r>
              <a:rPr lang="en-US" sz="600" dirty="0">
                <a:solidFill>
                  <a:srgbClr val="4B5563"/>
                </a:solidFill>
                <a:latin typeface="Arial" pitchFamily="34" charset="0"/>
                <a:ea typeface="Arial" pitchFamily="34" charset="-122"/>
                <a:cs typeface="Arial" pitchFamily="34" charset="-120"/>
              </a:rPr>
              <a:t>COMMERCIAL DISTRICT</a:t>
            </a:r>
            <a:endParaRPr lang="en-US" sz="600" dirty="0"/>
          </a:p>
        </p:txBody>
      </p:sp>
      <p:sp>
        <p:nvSpPr>
          <p:cNvPr id="23" name="Shape 20"/>
          <p:cNvSpPr/>
          <p:nvPr/>
        </p:nvSpPr>
        <p:spPr>
          <a:xfrm>
            <a:off x="5440680" y="1005840"/>
            <a:ext cx="1600200" cy="777240"/>
          </a:xfrm>
          <a:prstGeom prst="rect">
            <a:avLst/>
          </a:prstGeom>
          <a:solidFill>
            <a:srgbClr val="F4F5F7"/>
          </a:solidFill>
          <a:ln w="6350">
            <a:solidFill>
              <a:srgbClr val="D1D5DB"/>
            </a:solidFill>
            <a:prstDash val="solid"/>
          </a:ln>
        </p:spPr>
      </p:sp>
      <p:sp>
        <p:nvSpPr>
          <p:cNvPr id="24" name="Text 21"/>
          <p:cNvSpPr txBox="1"/>
          <p:nvPr/>
        </p:nvSpPr>
        <p:spPr>
          <a:xfrm>
            <a:off x="5440680" y="1024128"/>
            <a:ext cx="1600200" cy="164592"/>
          </a:xfrm>
          <a:prstGeom prst="rect">
            <a:avLst/>
          </a:prstGeom>
          <a:noFill/>
          <a:ln/>
        </p:spPr>
        <p:txBody>
          <a:bodyPr wrap="square" lIns="0" tIns="0" rIns="0" bIns="0" rtlCol="0" anchor="ctr"/>
          <a:lstStyle/>
          <a:p>
            <a:pPr algn="ctr" indent="0" marL="0">
              <a:buNone/>
            </a:pPr>
            <a:r>
              <a:rPr lang="en-US" sz="650" b="1" dirty="0">
                <a:solidFill>
                  <a:srgbClr val="C85A17"/>
                </a:solidFill>
                <a:latin typeface="Arial" pitchFamily="34" charset="0"/>
                <a:ea typeface="Arial" pitchFamily="34" charset="-122"/>
                <a:cs typeface="Arial" pitchFamily="34" charset="-120"/>
              </a:rPr>
              <a:t>ACCESS</a:t>
            </a:r>
            <a:endParaRPr lang="en-US" sz="650" dirty="0"/>
          </a:p>
        </p:txBody>
      </p:sp>
      <p:sp>
        <p:nvSpPr>
          <p:cNvPr id="25" name="Text 22"/>
          <p:cNvSpPr txBox="1"/>
          <p:nvPr/>
        </p:nvSpPr>
        <p:spPr>
          <a:xfrm>
            <a:off x="5440680" y="1188720"/>
            <a:ext cx="1600200" cy="320040"/>
          </a:xfrm>
          <a:prstGeom prst="rect">
            <a:avLst/>
          </a:prstGeom>
          <a:noFill/>
          <a:ln/>
        </p:spPr>
        <p:txBody>
          <a:bodyPr wrap="square" lIns="0" tIns="0" rIns="0" bIns="0" rtlCol="0" anchor="ctr"/>
          <a:lstStyle/>
          <a:p>
            <a:pPr algn="ctr" indent="0" marL="0">
              <a:buNone/>
            </a:pPr>
            <a:r>
              <a:rPr lang="en-US" sz="1600" b="1" dirty="0">
                <a:solidFill>
                  <a:srgbClr val="1F3A5F"/>
                </a:solidFill>
                <a:latin typeface="Arial" pitchFamily="34" charset="0"/>
                <a:ea typeface="Arial" pitchFamily="34" charset="-122"/>
                <a:cs typeface="Arial" pitchFamily="34" charset="-120"/>
              </a:rPr>
              <a:t>[DIRECT]</a:t>
            </a:r>
            <a:endParaRPr lang="en-US" sz="1600" dirty="0"/>
          </a:p>
        </p:txBody>
      </p:sp>
      <p:sp>
        <p:nvSpPr>
          <p:cNvPr id="26" name="Text 23"/>
          <p:cNvSpPr txBox="1"/>
          <p:nvPr/>
        </p:nvSpPr>
        <p:spPr>
          <a:xfrm>
            <a:off x="5440680" y="1508760"/>
            <a:ext cx="1600200" cy="164592"/>
          </a:xfrm>
          <a:prstGeom prst="rect">
            <a:avLst/>
          </a:prstGeom>
          <a:noFill/>
          <a:ln/>
        </p:spPr>
        <p:txBody>
          <a:bodyPr wrap="square" lIns="0" tIns="0" rIns="0" bIns="0" rtlCol="0" anchor="ctr"/>
          <a:lstStyle/>
          <a:p>
            <a:pPr algn="ctr" indent="0" marL="0">
              <a:buNone/>
            </a:pPr>
            <a:r>
              <a:rPr lang="en-US" sz="600" dirty="0">
                <a:solidFill>
                  <a:srgbClr val="4B5563"/>
                </a:solidFill>
                <a:latin typeface="Arial" pitchFamily="34" charset="0"/>
                <a:ea typeface="Arial" pitchFamily="34" charset="-122"/>
                <a:cs typeface="Arial" pitchFamily="34" charset="-120"/>
              </a:rPr>
              <a:t>HWY FRONTAGE</a:t>
            </a:r>
            <a:endParaRPr lang="en-US" sz="600" dirty="0"/>
          </a:p>
        </p:txBody>
      </p:sp>
      <p:sp>
        <p:nvSpPr>
          <p:cNvPr id="27" name="Shape 24"/>
          <p:cNvSpPr/>
          <p:nvPr/>
        </p:nvSpPr>
        <p:spPr>
          <a:xfrm>
            <a:off x="7178040" y="1005840"/>
            <a:ext cx="1600200" cy="777240"/>
          </a:xfrm>
          <a:prstGeom prst="rect">
            <a:avLst/>
          </a:prstGeom>
          <a:solidFill>
            <a:srgbClr val="F4F5F7"/>
          </a:solidFill>
          <a:ln w="6350">
            <a:solidFill>
              <a:srgbClr val="D1D5DB"/>
            </a:solidFill>
            <a:prstDash val="solid"/>
          </a:ln>
        </p:spPr>
      </p:sp>
      <p:sp>
        <p:nvSpPr>
          <p:cNvPr id="28" name="Text 25"/>
          <p:cNvSpPr txBox="1"/>
          <p:nvPr/>
        </p:nvSpPr>
        <p:spPr>
          <a:xfrm>
            <a:off x="7178040" y="1024128"/>
            <a:ext cx="1600200" cy="164592"/>
          </a:xfrm>
          <a:prstGeom prst="rect">
            <a:avLst/>
          </a:prstGeom>
          <a:noFill/>
          <a:ln/>
        </p:spPr>
        <p:txBody>
          <a:bodyPr wrap="square" lIns="0" tIns="0" rIns="0" bIns="0" rtlCol="0" anchor="ctr"/>
          <a:lstStyle/>
          <a:p>
            <a:pPr algn="ctr" indent="0" marL="0">
              <a:buNone/>
            </a:pPr>
            <a:r>
              <a:rPr lang="en-US" sz="650" b="1" dirty="0">
                <a:solidFill>
                  <a:srgbClr val="C85A17"/>
                </a:solidFill>
                <a:latin typeface="Arial" pitchFamily="34" charset="0"/>
                <a:ea typeface="Arial" pitchFamily="34" charset="-122"/>
                <a:cs typeface="Arial" pitchFamily="34" charset="-120"/>
              </a:rPr>
              <a:t>STATUS</a:t>
            </a:r>
            <a:endParaRPr lang="en-US" sz="650" dirty="0"/>
          </a:p>
        </p:txBody>
      </p:sp>
      <p:sp>
        <p:nvSpPr>
          <p:cNvPr id="29" name="Text 26"/>
          <p:cNvSpPr txBox="1"/>
          <p:nvPr/>
        </p:nvSpPr>
        <p:spPr>
          <a:xfrm>
            <a:off x="7178040" y="1188720"/>
            <a:ext cx="1600200" cy="320040"/>
          </a:xfrm>
          <a:prstGeom prst="rect">
            <a:avLst/>
          </a:prstGeom>
          <a:noFill/>
          <a:ln/>
        </p:spPr>
        <p:txBody>
          <a:bodyPr wrap="square" lIns="0" tIns="0" rIns="0" bIns="0" rtlCol="0" anchor="ctr"/>
          <a:lstStyle/>
          <a:p>
            <a:pPr algn="ctr" indent="0" marL="0">
              <a:buNone/>
            </a:pPr>
            <a:r>
              <a:rPr lang="en-US" sz="1600" b="1" dirty="0">
                <a:solidFill>
                  <a:srgbClr val="1F3A5F"/>
                </a:solidFill>
                <a:latin typeface="Arial" pitchFamily="34" charset="0"/>
                <a:ea typeface="Arial" pitchFamily="34" charset="-122"/>
                <a:cs typeface="Arial" pitchFamily="34" charset="-120"/>
              </a:rPr>
              <a:t>AVAILABLE</a:t>
            </a:r>
            <a:endParaRPr lang="en-US" sz="1600" dirty="0"/>
          </a:p>
        </p:txBody>
      </p:sp>
      <p:sp>
        <p:nvSpPr>
          <p:cNvPr id="30" name="Text 27"/>
          <p:cNvSpPr txBox="1"/>
          <p:nvPr/>
        </p:nvSpPr>
        <p:spPr>
          <a:xfrm>
            <a:off x="7178040" y="1508760"/>
            <a:ext cx="1600200" cy="164592"/>
          </a:xfrm>
          <a:prstGeom prst="rect">
            <a:avLst/>
          </a:prstGeom>
          <a:noFill/>
          <a:ln/>
        </p:spPr>
        <p:txBody>
          <a:bodyPr wrap="square" lIns="0" tIns="0" rIns="0" bIns="0" rtlCol="0" anchor="ctr"/>
          <a:lstStyle/>
          <a:p>
            <a:pPr algn="ctr" indent="0" marL="0">
              <a:buNone/>
            </a:pPr>
            <a:r>
              <a:rPr lang="en-US" sz="600" dirty="0">
                <a:solidFill>
                  <a:srgbClr val="4B5563"/>
                </a:solidFill>
                <a:latin typeface="Arial" pitchFamily="34" charset="0"/>
                <a:ea typeface="Arial" pitchFamily="34" charset="-122"/>
                <a:cs typeface="Arial" pitchFamily="34" charset="-120"/>
              </a:rPr>
              <a:t>FOR LEASE</a:t>
            </a:r>
            <a:endParaRPr lang="en-US" sz="600" dirty="0"/>
          </a:p>
        </p:txBody>
      </p:sp>
      <p:sp>
        <p:nvSpPr>
          <p:cNvPr id="31" name="Shape 28"/>
          <p:cNvSpPr/>
          <p:nvPr/>
        </p:nvSpPr>
        <p:spPr>
          <a:xfrm>
            <a:off x="228600" y="1874520"/>
            <a:ext cx="5303520" cy="2011680"/>
          </a:xfrm>
          <a:prstGeom prst="rect">
            <a:avLst/>
          </a:prstGeom>
          <a:solidFill>
            <a:srgbClr val="D1D5DB"/>
          </a:solidFill>
          <a:ln/>
        </p:spPr>
      </p:sp>
      <p:sp>
        <p:nvSpPr>
          <p:cNvPr id="32" name="Text 29"/>
          <p:cNvSpPr txBox="1"/>
          <p:nvPr/>
        </p:nvSpPr>
        <p:spPr>
          <a:xfrm>
            <a:off x="228600" y="2743200"/>
            <a:ext cx="5303520" cy="274320"/>
          </a:xfrm>
          <a:prstGeom prst="rect">
            <a:avLst/>
          </a:prstGeom>
          <a:noFill/>
          <a:ln/>
        </p:spPr>
        <p:txBody>
          <a:bodyPr wrap="square" lIns="0" tIns="0" rIns="0" bIns="0" rtlCol="0" anchor="ctr"/>
          <a:lstStyle/>
          <a:p>
            <a:pPr algn="ctr" indent="0" marL="0">
              <a:buNone/>
            </a:pPr>
            <a:r>
              <a:rPr lang="en-US" sz="1200" dirty="0">
                <a:solidFill>
                  <a:srgbClr val="9CA3AF"/>
                </a:solidFill>
                <a:latin typeface="Arial" pitchFamily="34" charset="0"/>
                <a:ea typeface="Arial" pitchFamily="34" charset="-122"/>
                <a:cs typeface="Arial" pitchFamily="34" charset="-120"/>
              </a:rPr>
              <a:t>[ PROPERTY PHOTO ]</a:t>
            </a:r>
            <a:endParaRPr lang="en-US" sz="1200" dirty="0"/>
          </a:p>
        </p:txBody>
      </p:sp>
      <p:sp>
        <p:nvSpPr>
          <p:cNvPr id="33" name="Shape 30"/>
          <p:cNvSpPr/>
          <p:nvPr/>
        </p:nvSpPr>
        <p:spPr>
          <a:xfrm>
            <a:off x="5760720" y="1874520"/>
            <a:ext cx="3154680" cy="0"/>
          </a:xfrm>
          <a:prstGeom prst="line">
            <a:avLst/>
          </a:prstGeom>
          <a:noFill/>
          <a:ln w="6350">
            <a:solidFill>
              <a:srgbClr val="D1D5DB"/>
            </a:solidFill>
            <a:prstDash val="solid"/>
          </a:ln>
        </p:spPr>
      </p:sp>
      <p:sp>
        <p:nvSpPr>
          <p:cNvPr id="34" name="Text 31"/>
          <p:cNvSpPr txBox="1"/>
          <p:nvPr/>
        </p:nvSpPr>
        <p:spPr>
          <a:xfrm>
            <a:off x="5760720" y="1901952"/>
            <a:ext cx="1280160" cy="201168"/>
          </a:xfrm>
          <a:prstGeom prst="rect">
            <a:avLst/>
          </a:prstGeom>
          <a:noFill/>
          <a:ln/>
        </p:spPr>
        <p:txBody>
          <a:bodyPr wrap="square" lIns="0" tIns="0" rIns="0" bIns="0" rtlCol="0" anchor="ctr"/>
          <a:lstStyle/>
          <a:p>
            <a:pPr indent="0" marL="0">
              <a:buNone/>
            </a:pPr>
            <a:r>
              <a:rPr lang="en-US" sz="700" b="1" dirty="0">
                <a:solidFill>
                  <a:srgbClr val="1F3A5F"/>
                </a:solidFill>
                <a:latin typeface="Arial" pitchFamily="34" charset="0"/>
                <a:ea typeface="Arial" pitchFamily="34" charset="-122"/>
                <a:cs typeface="Arial" pitchFamily="34" charset="-120"/>
              </a:rPr>
              <a:t>SITE ADDRESS</a:t>
            </a:r>
            <a:endParaRPr lang="en-US" sz="700" dirty="0"/>
          </a:p>
        </p:txBody>
      </p:sp>
      <p:sp>
        <p:nvSpPr>
          <p:cNvPr id="35" name="Text 32"/>
          <p:cNvSpPr txBox="1"/>
          <p:nvPr/>
        </p:nvSpPr>
        <p:spPr>
          <a:xfrm>
            <a:off x="7086600" y="1901952"/>
            <a:ext cx="1828800" cy="201168"/>
          </a:xfrm>
          <a:prstGeom prst="rect">
            <a:avLst/>
          </a:prstGeom>
          <a:noFill/>
          <a:ln/>
        </p:spPr>
        <p:txBody>
          <a:bodyPr wrap="square" lIns="0" tIns="0" rIns="0" bIns="0" rtlCol="0" anchor="ctr"/>
          <a:lstStyle/>
          <a:p>
            <a:pPr algn="r" indent="0" marL="0">
              <a:buNone/>
            </a:pPr>
            <a:r>
              <a:rPr lang="en-US" sz="700" dirty="0">
                <a:solidFill>
                  <a:srgbClr val="4B5563"/>
                </a:solidFill>
                <a:latin typeface="Arial" pitchFamily="34" charset="0"/>
                <a:ea typeface="Arial" pitchFamily="34" charset="-122"/>
                <a:cs typeface="Arial" pitchFamily="34" charset="-120"/>
              </a:rPr>
              <a:t>[Full Address, City, TX ZIP]</a:t>
            </a:r>
            <a:endParaRPr lang="en-US" sz="700" dirty="0"/>
          </a:p>
        </p:txBody>
      </p:sp>
      <p:sp>
        <p:nvSpPr>
          <p:cNvPr id="36" name="Shape 33"/>
          <p:cNvSpPr/>
          <p:nvPr/>
        </p:nvSpPr>
        <p:spPr>
          <a:xfrm>
            <a:off x="5760720" y="2162556"/>
            <a:ext cx="3154680" cy="0"/>
          </a:xfrm>
          <a:prstGeom prst="line">
            <a:avLst/>
          </a:prstGeom>
          <a:noFill/>
          <a:ln w="6350">
            <a:solidFill>
              <a:srgbClr val="D1D5DB"/>
            </a:solidFill>
            <a:prstDash val="solid"/>
          </a:ln>
        </p:spPr>
      </p:sp>
      <p:sp>
        <p:nvSpPr>
          <p:cNvPr id="37" name="Text 34"/>
          <p:cNvSpPr txBox="1"/>
          <p:nvPr/>
        </p:nvSpPr>
        <p:spPr>
          <a:xfrm>
            <a:off x="5760720" y="2189988"/>
            <a:ext cx="1280160" cy="201168"/>
          </a:xfrm>
          <a:prstGeom prst="rect">
            <a:avLst/>
          </a:prstGeom>
          <a:noFill/>
          <a:ln/>
        </p:spPr>
        <p:txBody>
          <a:bodyPr wrap="square" lIns="0" tIns="0" rIns="0" bIns="0" rtlCol="0" anchor="ctr"/>
          <a:lstStyle/>
          <a:p>
            <a:pPr indent="0" marL="0">
              <a:buNone/>
            </a:pPr>
            <a:r>
              <a:rPr lang="en-US" sz="700" b="1" dirty="0">
                <a:solidFill>
                  <a:srgbClr val="1F3A5F"/>
                </a:solidFill>
                <a:latin typeface="Arial" pitchFamily="34" charset="0"/>
                <a:ea typeface="Arial" pitchFamily="34" charset="-122"/>
                <a:cs typeface="Arial" pitchFamily="34" charset="-120"/>
              </a:rPr>
              <a:t>COUNTY</a:t>
            </a:r>
            <a:endParaRPr lang="en-US" sz="700" dirty="0"/>
          </a:p>
        </p:txBody>
      </p:sp>
      <p:sp>
        <p:nvSpPr>
          <p:cNvPr id="38" name="Text 35"/>
          <p:cNvSpPr txBox="1"/>
          <p:nvPr/>
        </p:nvSpPr>
        <p:spPr>
          <a:xfrm>
            <a:off x="7086600" y="2189988"/>
            <a:ext cx="1828800" cy="201168"/>
          </a:xfrm>
          <a:prstGeom prst="rect">
            <a:avLst/>
          </a:prstGeom>
          <a:noFill/>
          <a:ln/>
        </p:spPr>
        <p:txBody>
          <a:bodyPr wrap="square" lIns="0" tIns="0" rIns="0" bIns="0" rtlCol="0" anchor="ctr"/>
          <a:lstStyle/>
          <a:p>
            <a:pPr algn="r" indent="0" marL="0">
              <a:buNone/>
            </a:pPr>
            <a:r>
              <a:rPr lang="en-US" sz="700" dirty="0">
                <a:solidFill>
                  <a:srgbClr val="4B5563"/>
                </a:solidFill>
                <a:latin typeface="Arial" pitchFamily="34" charset="0"/>
                <a:ea typeface="Arial" pitchFamily="34" charset="-122"/>
                <a:cs typeface="Arial" pitchFamily="34" charset="-120"/>
              </a:rPr>
              <a:t>[County Name]</a:t>
            </a:r>
            <a:endParaRPr lang="en-US" sz="700" dirty="0"/>
          </a:p>
        </p:txBody>
      </p:sp>
      <p:sp>
        <p:nvSpPr>
          <p:cNvPr id="39" name="Shape 36"/>
          <p:cNvSpPr/>
          <p:nvPr/>
        </p:nvSpPr>
        <p:spPr>
          <a:xfrm>
            <a:off x="5760720" y="2450592"/>
            <a:ext cx="3154680" cy="0"/>
          </a:xfrm>
          <a:prstGeom prst="line">
            <a:avLst/>
          </a:prstGeom>
          <a:noFill/>
          <a:ln w="6350">
            <a:solidFill>
              <a:srgbClr val="D1D5DB"/>
            </a:solidFill>
            <a:prstDash val="solid"/>
          </a:ln>
        </p:spPr>
      </p:sp>
      <p:sp>
        <p:nvSpPr>
          <p:cNvPr id="40" name="Text 37"/>
          <p:cNvSpPr txBox="1"/>
          <p:nvPr/>
        </p:nvSpPr>
        <p:spPr>
          <a:xfrm>
            <a:off x="5760720" y="2478024"/>
            <a:ext cx="1280160" cy="201168"/>
          </a:xfrm>
          <a:prstGeom prst="rect">
            <a:avLst/>
          </a:prstGeom>
          <a:noFill/>
          <a:ln/>
        </p:spPr>
        <p:txBody>
          <a:bodyPr wrap="square" lIns="0" tIns="0" rIns="0" bIns="0" rtlCol="0" anchor="ctr"/>
          <a:lstStyle/>
          <a:p>
            <a:pPr indent="0" marL="0">
              <a:buNone/>
            </a:pPr>
            <a:r>
              <a:rPr lang="en-US" sz="700" b="1" dirty="0">
                <a:solidFill>
                  <a:srgbClr val="1F3A5F"/>
                </a:solidFill>
                <a:latin typeface="Arial" pitchFamily="34" charset="0"/>
                <a:ea typeface="Arial" pitchFamily="34" charset="-122"/>
                <a:cs typeface="Arial" pitchFamily="34" charset="-120"/>
              </a:rPr>
              <a:t>ROAD FRONTAGE</a:t>
            </a:r>
            <a:endParaRPr lang="en-US" sz="700" dirty="0"/>
          </a:p>
        </p:txBody>
      </p:sp>
      <p:sp>
        <p:nvSpPr>
          <p:cNvPr id="41" name="Text 38"/>
          <p:cNvSpPr txBox="1"/>
          <p:nvPr/>
        </p:nvSpPr>
        <p:spPr>
          <a:xfrm>
            <a:off x="7086600" y="2478024"/>
            <a:ext cx="1828800" cy="201168"/>
          </a:xfrm>
          <a:prstGeom prst="rect">
            <a:avLst/>
          </a:prstGeom>
          <a:noFill/>
          <a:ln/>
        </p:spPr>
        <p:txBody>
          <a:bodyPr wrap="square" lIns="0" tIns="0" rIns="0" bIns="0" rtlCol="0" anchor="ctr"/>
          <a:lstStyle/>
          <a:p>
            <a:pPr algn="r" indent="0" marL="0">
              <a:buNone/>
            </a:pPr>
            <a:r>
              <a:rPr lang="en-US" sz="700" dirty="0">
                <a:solidFill>
                  <a:srgbClr val="4B5563"/>
                </a:solidFill>
                <a:latin typeface="Arial" pitchFamily="34" charset="0"/>
                <a:ea typeface="Arial" pitchFamily="34" charset="-122"/>
                <a:cs typeface="Arial" pitchFamily="34" charset="-120"/>
              </a:rPr>
              <a:t>[Road Name / HWY]</a:t>
            </a:r>
            <a:endParaRPr lang="en-US" sz="700" dirty="0"/>
          </a:p>
        </p:txBody>
      </p:sp>
      <p:sp>
        <p:nvSpPr>
          <p:cNvPr id="42" name="Shape 39"/>
          <p:cNvSpPr/>
          <p:nvPr/>
        </p:nvSpPr>
        <p:spPr>
          <a:xfrm>
            <a:off x="5760720" y="2738628"/>
            <a:ext cx="3154680" cy="0"/>
          </a:xfrm>
          <a:prstGeom prst="line">
            <a:avLst/>
          </a:prstGeom>
          <a:noFill/>
          <a:ln w="6350">
            <a:solidFill>
              <a:srgbClr val="D1D5DB"/>
            </a:solidFill>
            <a:prstDash val="solid"/>
          </a:ln>
        </p:spPr>
      </p:sp>
      <p:sp>
        <p:nvSpPr>
          <p:cNvPr id="43" name="Text 40"/>
          <p:cNvSpPr txBox="1"/>
          <p:nvPr/>
        </p:nvSpPr>
        <p:spPr>
          <a:xfrm>
            <a:off x="5760720" y="2766060"/>
            <a:ext cx="1280160" cy="201168"/>
          </a:xfrm>
          <a:prstGeom prst="rect">
            <a:avLst/>
          </a:prstGeom>
          <a:noFill/>
          <a:ln/>
        </p:spPr>
        <p:txBody>
          <a:bodyPr wrap="square" lIns="0" tIns="0" rIns="0" bIns="0" rtlCol="0" anchor="ctr"/>
          <a:lstStyle/>
          <a:p>
            <a:pPr indent="0" marL="0">
              <a:buNone/>
            </a:pPr>
            <a:r>
              <a:rPr lang="en-US" sz="700" b="1" dirty="0">
                <a:solidFill>
                  <a:srgbClr val="1F3A5F"/>
                </a:solidFill>
                <a:latin typeface="Arial" pitchFamily="34" charset="0"/>
                <a:ea typeface="Arial" pitchFamily="34" charset="-122"/>
                <a:cs typeface="Arial" pitchFamily="34" charset="-120"/>
              </a:rPr>
              <a:t>UTILITIES</a:t>
            </a:r>
            <a:endParaRPr lang="en-US" sz="700" dirty="0"/>
          </a:p>
        </p:txBody>
      </p:sp>
      <p:sp>
        <p:nvSpPr>
          <p:cNvPr id="44" name="Text 41"/>
          <p:cNvSpPr txBox="1"/>
          <p:nvPr/>
        </p:nvSpPr>
        <p:spPr>
          <a:xfrm>
            <a:off x="7086600" y="2766060"/>
            <a:ext cx="1828800" cy="201168"/>
          </a:xfrm>
          <a:prstGeom prst="rect">
            <a:avLst/>
          </a:prstGeom>
          <a:noFill/>
          <a:ln/>
        </p:spPr>
        <p:txBody>
          <a:bodyPr wrap="square" lIns="0" tIns="0" rIns="0" bIns="0" rtlCol="0" anchor="ctr"/>
          <a:lstStyle/>
          <a:p>
            <a:pPr algn="r" indent="0" marL="0">
              <a:buNone/>
            </a:pPr>
            <a:r>
              <a:rPr lang="en-US" sz="700" dirty="0">
                <a:solidFill>
                  <a:srgbClr val="4B5563"/>
                </a:solidFill>
                <a:latin typeface="Arial" pitchFamily="34" charset="0"/>
                <a:ea typeface="Arial" pitchFamily="34" charset="-122"/>
                <a:cs typeface="Arial" pitchFamily="34" charset="-120"/>
              </a:rPr>
              <a:t>Available at site</a:t>
            </a:r>
            <a:endParaRPr lang="en-US" sz="700" dirty="0"/>
          </a:p>
        </p:txBody>
      </p:sp>
      <p:sp>
        <p:nvSpPr>
          <p:cNvPr id="45" name="Shape 42"/>
          <p:cNvSpPr/>
          <p:nvPr/>
        </p:nvSpPr>
        <p:spPr>
          <a:xfrm>
            <a:off x="5760720" y="3026664"/>
            <a:ext cx="3154680" cy="0"/>
          </a:xfrm>
          <a:prstGeom prst="line">
            <a:avLst/>
          </a:prstGeom>
          <a:noFill/>
          <a:ln w="6350">
            <a:solidFill>
              <a:srgbClr val="D1D5DB"/>
            </a:solidFill>
            <a:prstDash val="solid"/>
          </a:ln>
        </p:spPr>
      </p:sp>
      <p:sp>
        <p:nvSpPr>
          <p:cNvPr id="46" name="Text 43"/>
          <p:cNvSpPr txBox="1"/>
          <p:nvPr/>
        </p:nvSpPr>
        <p:spPr>
          <a:xfrm>
            <a:off x="5760720" y="3054096"/>
            <a:ext cx="1280160" cy="201168"/>
          </a:xfrm>
          <a:prstGeom prst="rect">
            <a:avLst/>
          </a:prstGeom>
          <a:noFill/>
          <a:ln/>
        </p:spPr>
        <p:txBody>
          <a:bodyPr wrap="square" lIns="0" tIns="0" rIns="0" bIns="0" rtlCol="0" anchor="ctr"/>
          <a:lstStyle/>
          <a:p>
            <a:pPr indent="0" marL="0">
              <a:buNone/>
            </a:pPr>
            <a:r>
              <a:rPr lang="en-US" sz="700" b="1" dirty="0">
                <a:solidFill>
                  <a:srgbClr val="1F3A5F"/>
                </a:solidFill>
                <a:latin typeface="Arial" pitchFamily="34" charset="0"/>
                <a:ea typeface="Arial" pitchFamily="34" charset="-122"/>
                <a:cs typeface="Arial" pitchFamily="34" charset="-120"/>
              </a:rPr>
              <a:t>PARKING</a:t>
            </a:r>
            <a:endParaRPr lang="en-US" sz="700" dirty="0"/>
          </a:p>
        </p:txBody>
      </p:sp>
      <p:sp>
        <p:nvSpPr>
          <p:cNvPr id="47" name="Text 44"/>
          <p:cNvSpPr txBox="1"/>
          <p:nvPr/>
        </p:nvSpPr>
        <p:spPr>
          <a:xfrm>
            <a:off x="7086600" y="3054096"/>
            <a:ext cx="1828800" cy="201168"/>
          </a:xfrm>
          <a:prstGeom prst="rect">
            <a:avLst/>
          </a:prstGeom>
          <a:noFill/>
          <a:ln/>
        </p:spPr>
        <p:txBody>
          <a:bodyPr wrap="square" lIns="0" tIns="0" rIns="0" bIns="0" rtlCol="0" anchor="ctr"/>
          <a:lstStyle/>
          <a:p>
            <a:pPr algn="r" indent="0" marL="0">
              <a:buNone/>
            </a:pPr>
            <a:r>
              <a:rPr lang="en-US" sz="700" dirty="0">
                <a:solidFill>
                  <a:srgbClr val="4B5563"/>
                </a:solidFill>
                <a:latin typeface="Arial" pitchFamily="34" charset="0"/>
                <a:ea typeface="Arial" pitchFamily="34" charset="-122"/>
                <a:cs typeface="Arial" pitchFamily="34" charset="-120"/>
              </a:rPr>
              <a:t>[XX] spaces</a:t>
            </a:r>
            <a:endParaRPr lang="en-US" sz="700" dirty="0"/>
          </a:p>
        </p:txBody>
      </p:sp>
      <p:sp>
        <p:nvSpPr>
          <p:cNvPr id="48" name="Shape 45"/>
          <p:cNvSpPr/>
          <p:nvPr/>
        </p:nvSpPr>
        <p:spPr>
          <a:xfrm>
            <a:off x="5760720" y="3314700"/>
            <a:ext cx="3154680" cy="0"/>
          </a:xfrm>
          <a:prstGeom prst="line">
            <a:avLst/>
          </a:prstGeom>
          <a:noFill/>
          <a:ln w="6350">
            <a:solidFill>
              <a:srgbClr val="D1D5DB"/>
            </a:solidFill>
            <a:prstDash val="solid"/>
          </a:ln>
        </p:spPr>
      </p:sp>
      <p:sp>
        <p:nvSpPr>
          <p:cNvPr id="49" name="Text 46"/>
          <p:cNvSpPr txBox="1"/>
          <p:nvPr/>
        </p:nvSpPr>
        <p:spPr>
          <a:xfrm>
            <a:off x="5760720" y="3342132"/>
            <a:ext cx="1280160" cy="201168"/>
          </a:xfrm>
          <a:prstGeom prst="rect">
            <a:avLst/>
          </a:prstGeom>
          <a:noFill/>
          <a:ln/>
        </p:spPr>
        <p:txBody>
          <a:bodyPr wrap="square" lIns="0" tIns="0" rIns="0" bIns="0" rtlCol="0" anchor="ctr"/>
          <a:lstStyle/>
          <a:p>
            <a:pPr indent="0" marL="0">
              <a:buNone/>
            </a:pPr>
            <a:r>
              <a:rPr lang="en-US" sz="700" b="1" dirty="0">
                <a:solidFill>
                  <a:srgbClr val="1F3A5F"/>
                </a:solidFill>
                <a:latin typeface="Arial" pitchFamily="34" charset="0"/>
                <a:ea typeface="Arial" pitchFamily="34" charset="-122"/>
                <a:cs typeface="Arial" pitchFamily="34" charset="-120"/>
              </a:rPr>
              <a:t>YEAR BUILT</a:t>
            </a:r>
            <a:endParaRPr lang="en-US" sz="700" dirty="0"/>
          </a:p>
        </p:txBody>
      </p:sp>
      <p:sp>
        <p:nvSpPr>
          <p:cNvPr id="50" name="Text 47"/>
          <p:cNvSpPr txBox="1"/>
          <p:nvPr/>
        </p:nvSpPr>
        <p:spPr>
          <a:xfrm>
            <a:off x="7086600" y="3342132"/>
            <a:ext cx="1828800" cy="201168"/>
          </a:xfrm>
          <a:prstGeom prst="rect">
            <a:avLst/>
          </a:prstGeom>
          <a:noFill/>
          <a:ln/>
        </p:spPr>
        <p:txBody>
          <a:bodyPr wrap="square" lIns="0" tIns="0" rIns="0" bIns="0" rtlCol="0" anchor="ctr"/>
          <a:lstStyle/>
          <a:p>
            <a:pPr algn="r" indent="0" marL="0">
              <a:buNone/>
            </a:pPr>
            <a:r>
              <a:rPr lang="en-US" sz="700" dirty="0">
                <a:solidFill>
                  <a:srgbClr val="4B5563"/>
                </a:solidFill>
                <a:latin typeface="Arial" pitchFamily="34" charset="0"/>
                <a:ea typeface="Arial" pitchFamily="34" charset="-122"/>
                <a:cs typeface="Arial" pitchFamily="34" charset="-120"/>
              </a:rPr>
              <a:t>[XXXX]</a:t>
            </a:r>
            <a:endParaRPr lang="en-US" sz="700" dirty="0"/>
          </a:p>
        </p:txBody>
      </p:sp>
      <p:sp>
        <p:nvSpPr>
          <p:cNvPr id="51" name="Shape 48"/>
          <p:cNvSpPr/>
          <p:nvPr/>
        </p:nvSpPr>
        <p:spPr>
          <a:xfrm>
            <a:off x="5760720" y="3602736"/>
            <a:ext cx="3154680" cy="0"/>
          </a:xfrm>
          <a:prstGeom prst="line">
            <a:avLst/>
          </a:prstGeom>
          <a:noFill/>
          <a:ln w="6350">
            <a:solidFill>
              <a:srgbClr val="D1D5DB"/>
            </a:solidFill>
            <a:prstDash val="solid"/>
          </a:ln>
        </p:spPr>
      </p:sp>
      <p:sp>
        <p:nvSpPr>
          <p:cNvPr id="52" name="Text 49"/>
          <p:cNvSpPr txBox="1"/>
          <p:nvPr/>
        </p:nvSpPr>
        <p:spPr>
          <a:xfrm>
            <a:off x="5760720" y="3630168"/>
            <a:ext cx="1280160" cy="201168"/>
          </a:xfrm>
          <a:prstGeom prst="rect">
            <a:avLst/>
          </a:prstGeom>
          <a:noFill/>
          <a:ln/>
        </p:spPr>
        <p:txBody>
          <a:bodyPr wrap="square" lIns="0" tIns="0" rIns="0" bIns="0" rtlCol="0" anchor="ctr"/>
          <a:lstStyle/>
          <a:p>
            <a:pPr indent="0" marL="0">
              <a:buNone/>
            </a:pPr>
            <a:r>
              <a:rPr lang="en-US" sz="700" b="1" dirty="0">
                <a:solidFill>
                  <a:srgbClr val="1F3A5F"/>
                </a:solidFill>
                <a:latin typeface="Arial" pitchFamily="34" charset="0"/>
                <a:ea typeface="Arial" pitchFamily="34" charset="-122"/>
                <a:cs typeface="Arial" pitchFamily="34" charset="-120"/>
              </a:rPr>
              <a:t>LEASE TYPE</a:t>
            </a:r>
            <a:endParaRPr lang="en-US" sz="700" dirty="0"/>
          </a:p>
        </p:txBody>
      </p:sp>
      <p:sp>
        <p:nvSpPr>
          <p:cNvPr id="53" name="Text 50"/>
          <p:cNvSpPr txBox="1"/>
          <p:nvPr/>
        </p:nvSpPr>
        <p:spPr>
          <a:xfrm>
            <a:off x="7086600" y="3630168"/>
            <a:ext cx="1828800" cy="201168"/>
          </a:xfrm>
          <a:prstGeom prst="rect">
            <a:avLst/>
          </a:prstGeom>
          <a:noFill/>
          <a:ln/>
        </p:spPr>
        <p:txBody>
          <a:bodyPr wrap="square" lIns="0" tIns="0" rIns="0" bIns="0" rtlCol="0" anchor="ctr"/>
          <a:lstStyle/>
          <a:p>
            <a:pPr algn="r" indent="0" marL="0">
              <a:buNone/>
            </a:pPr>
            <a:r>
              <a:rPr lang="en-US" sz="700" dirty="0">
                <a:solidFill>
                  <a:srgbClr val="4B5563"/>
                </a:solidFill>
                <a:latin typeface="Arial" pitchFamily="34" charset="0"/>
                <a:ea typeface="Arial" pitchFamily="34" charset="-122"/>
                <a:cs typeface="Arial" pitchFamily="34" charset="-120"/>
              </a:rPr>
              <a:t>NNN / Modified Gross</a:t>
            </a:r>
            <a:endParaRPr lang="en-US" sz="700" dirty="0"/>
          </a:p>
        </p:txBody>
      </p:sp>
      <p:sp>
        <p:nvSpPr>
          <p:cNvPr id="54" name="Shape 51"/>
          <p:cNvSpPr/>
          <p:nvPr/>
        </p:nvSpPr>
        <p:spPr>
          <a:xfrm>
            <a:off x="5760720" y="3904488"/>
            <a:ext cx="3154680" cy="777240"/>
          </a:xfrm>
          <a:prstGeom prst="rect">
            <a:avLst/>
          </a:prstGeom>
          <a:solidFill>
            <a:srgbClr val="1F3A5F"/>
          </a:solidFill>
          <a:ln/>
        </p:spPr>
      </p:sp>
      <p:sp>
        <p:nvSpPr>
          <p:cNvPr id="55" name="Text 52"/>
          <p:cNvSpPr txBox="1"/>
          <p:nvPr/>
        </p:nvSpPr>
        <p:spPr>
          <a:xfrm>
            <a:off x="5852160" y="3959352"/>
            <a:ext cx="2971800" cy="667512"/>
          </a:xfrm>
          <a:prstGeom prst="rect">
            <a:avLst/>
          </a:prstGeom>
          <a:noFill/>
          <a:ln/>
        </p:spPr>
        <p:txBody>
          <a:bodyPr wrap="square" lIns="0" tIns="0" rIns="0" bIns="0" rtlCol="0" anchor="ctr"/>
          <a:lstStyle/>
          <a:p>
            <a:pPr indent="0" marL="0">
              <a:buNone/>
            </a:pPr>
            <a:r>
              <a:rPr lang="en-US" sz="750" dirty="0">
                <a:solidFill>
                  <a:srgbClr val="FFFFFF"/>
                </a:solidFill>
                <a:latin typeface="Arial" pitchFamily="34" charset="0"/>
                <a:ea typeface="Arial" pitchFamily="34" charset="-122"/>
                <a:cs typeface="Arial" pitchFamily="34" charset="-120"/>
              </a:rPr>
              <a:t>[Property description — ideal use, key features, and compelling selling points go here. Keep to 2-3 sentences.]</a:t>
            </a:r>
            <a:endParaRPr lang="en-US" sz="750" dirty="0"/>
          </a:p>
        </p:txBody>
      </p:sp>
      <p:sp>
        <p:nvSpPr>
          <p:cNvPr id="56" name="Shape 53"/>
          <p:cNvSpPr/>
          <p:nvPr/>
        </p:nvSpPr>
        <p:spPr>
          <a:xfrm>
            <a:off x="228600" y="4480560"/>
            <a:ext cx="1234440" cy="256032"/>
          </a:xfrm>
          <a:prstGeom prst="rect">
            <a:avLst/>
          </a:prstGeom>
          <a:solidFill>
            <a:srgbClr val="C85A17"/>
          </a:solidFill>
          <a:ln/>
        </p:spPr>
      </p:sp>
      <p:sp>
        <p:nvSpPr>
          <p:cNvPr id="57" name="Text 54"/>
          <p:cNvSpPr txBox="1"/>
          <p:nvPr/>
        </p:nvSpPr>
        <p:spPr>
          <a:xfrm>
            <a:off x="228600" y="4480560"/>
            <a:ext cx="1234440" cy="256032"/>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[BADGE 1]</a:t>
            </a:r>
            <a:endParaRPr lang="en-US" sz="650" dirty="0"/>
          </a:p>
        </p:txBody>
      </p:sp>
      <p:sp>
        <p:nvSpPr>
          <p:cNvPr id="58" name="Shape 55"/>
          <p:cNvSpPr/>
          <p:nvPr/>
        </p:nvSpPr>
        <p:spPr>
          <a:xfrm>
            <a:off x="1554480" y="4480560"/>
            <a:ext cx="1234440" cy="256032"/>
          </a:xfrm>
          <a:prstGeom prst="rect">
            <a:avLst/>
          </a:prstGeom>
          <a:solidFill>
            <a:srgbClr val="C85A17"/>
          </a:solidFill>
          <a:ln/>
        </p:spPr>
      </p:sp>
      <p:sp>
        <p:nvSpPr>
          <p:cNvPr id="59" name="Text 56"/>
          <p:cNvSpPr txBox="1"/>
          <p:nvPr/>
        </p:nvSpPr>
        <p:spPr>
          <a:xfrm>
            <a:off x="1554480" y="4480560"/>
            <a:ext cx="1234440" cy="256032"/>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[BADGE 2]</a:t>
            </a:r>
            <a:endParaRPr lang="en-US" sz="650" dirty="0"/>
          </a:p>
        </p:txBody>
      </p:sp>
      <p:sp>
        <p:nvSpPr>
          <p:cNvPr id="60" name="Shape 57"/>
          <p:cNvSpPr/>
          <p:nvPr/>
        </p:nvSpPr>
        <p:spPr>
          <a:xfrm>
            <a:off x="2880360" y="4480560"/>
            <a:ext cx="1234440" cy="256032"/>
          </a:xfrm>
          <a:prstGeom prst="rect">
            <a:avLst/>
          </a:prstGeom>
          <a:solidFill>
            <a:srgbClr val="C85A17"/>
          </a:solidFill>
          <a:ln/>
        </p:spPr>
      </p:sp>
      <p:sp>
        <p:nvSpPr>
          <p:cNvPr id="61" name="Text 58"/>
          <p:cNvSpPr txBox="1"/>
          <p:nvPr/>
        </p:nvSpPr>
        <p:spPr>
          <a:xfrm>
            <a:off x="2880360" y="4480560"/>
            <a:ext cx="1234440" cy="256032"/>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[BADGE 3]</a:t>
            </a:r>
            <a:endParaRPr lang="en-US" sz="650" dirty="0"/>
          </a:p>
        </p:txBody>
      </p:sp>
      <p:sp>
        <p:nvSpPr>
          <p:cNvPr id="62" name="Shape 59"/>
          <p:cNvSpPr/>
          <p:nvPr/>
        </p:nvSpPr>
        <p:spPr>
          <a:xfrm>
            <a:off x="4206240" y="4480560"/>
            <a:ext cx="1234440" cy="256032"/>
          </a:xfrm>
          <a:prstGeom prst="rect">
            <a:avLst/>
          </a:prstGeom>
          <a:solidFill>
            <a:srgbClr val="C85A17"/>
          </a:solidFill>
          <a:ln/>
        </p:spPr>
      </p:sp>
      <p:sp>
        <p:nvSpPr>
          <p:cNvPr id="63" name="Text 60"/>
          <p:cNvSpPr txBox="1"/>
          <p:nvPr/>
        </p:nvSpPr>
        <p:spPr>
          <a:xfrm>
            <a:off x="4206240" y="4480560"/>
            <a:ext cx="1234440" cy="256032"/>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[BADGE 4]</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F3A5F"/>
          </a:solidFill>
          <a:ln/>
        </p:spPr>
      </p:sp>
      <p:pic>
        <p:nvPicPr>
          <p:cNvPr id="3" name="Image 0" descr="/home/claude/logo.png">    </p:cNvPr>
          <p:cNvPicPr>
            <a:picLocks noChangeAspect="1"/>
          </p:cNvPicPr>
          <p:nvPr/>
        </p:nvPicPr>
        <p:blipFill>
          <a:blip r:embed="rId1"/>
          <a:stretch>
            <a:fillRect/>
          </a:stretch>
        </p:blipFill>
        <p:spPr>
          <a:xfrm>
            <a:off x="137160" y="36576"/>
            <a:ext cx="1005840" cy="429768"/>
          </a:xfrm>
          <a:prstGeom prst="rect">
            <a:avLst/>
          </a:prstGeom>
        </p:spPr>
      </p:pic>
      <p:sp>
        <p:nvSpPr>
          <p:cNvPr id="4" name="Text 1"/>
          <p:cNvSpPr txBox="1"/>
          <p:nvPr/>
        </p:nvSpPr>
        <p:spPr>
          <a:xfrm>
            <a:off x="1280160" y="0"/>
            <a:ext cx="585216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[ADDRESS] • [CITY], TX</a:t>
            </a:r>
            <a:endParaRPr lang="en-US" sz="900" dirty="0"/>
          </a:p>
        </p:txBody>
      </p:sp>
      <p:sp>
        <p:nvSpPr>
          <p:cNvPr id="5" name="Shape 2"/>
          <p:cNvSpPr/>
          <p:nvPr/>
        </p:nvSpPr>
        <p:spPr>
          <a:xfrm>
            <a:off x="7406640" y="0"/>
            <a:ext cx="1737360" cy="502920"/>
          </a:xfrm>
          <a:prstGeom prst="rect">
            <a:avLst/>
          </a:prstGeom>
          <a:solidFill>
            <a:srgbClr val="C85A17"/>
          </a:solidFill>
          <a:ln/>
        </p:spPr>
      </p:sp>
      <p:sp>
        <p:nvSpPr>
          <p:cNvPr id="6" name="Text 3"/>
          <p:cNvSpPr txBox="1"/>
          <p:nvPr/>
        </p:nvSpPr>
        <p:spPr>
          <a:xfrm>
            <a:off x="7406640" y="0"/>
            <a:ext cx="1737360" cy="5029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SITE DETAILS</a:t>
            </a:r>
            <a:endParaRPr lang="en-US" sz="800" dirty="0"/>
          </a:p>
        </p:txBody>
      </p:sp>
      <p:sp>
        <p:nvSpPr>
          <p:cNvPr id="7" name="Shape 4"/>
          <p:cNvSpPr/>
          <p:nvPr/>
        </p:nvSpPr>
        <p:spPr>
          <a:xfrm>
            <a:off x="0" y="4892040"/>
            <a:ext cx="9144000" cy="251460"/>
          </a:xfrm>
          <a:prstGeom prst="rect">
            <a:avLst/>
          </a:prstGeom>
          <a:solidFill>
            <a:srgbClr val="1F3A5F"/>
          </a:solidFill>
          <a:ln/>
        </p:spPr>
      </p:sp>
      <p:sp>
        <p:nvSpPr>
          <p:cNvPr id="8" name="Text 5"/>
          <p:cNvSpPr txBox="1"/>
          <p:nvPr/>
        </p:nvSpPr>
        <p:spPr>
          <a:xfrm>
            <a:off x="137160" y="4892040"/>
            <a:ext cx="6400800" cy="251460"/>
          </a:xfrm>
          <a:prstGeom prst="rect">
            <a:avLst/>
          </a:prstGeom>
          <a:noFill/>
          <a:ln/>
        </p:spPr>
        <p:txBody>
          <a:bodyPr wrap="square" lIns="0" tIns="0" rIns="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[CONTACT NAME]  •  (512) 892-6001  •  pm@lifelongpm.com</a:t>
            </a:r>
            <a:endParaRPr lang="en-US" sz="750" dirty="0"/>
          </a:p>
        </p:txBody>
      </p:sp>
      <p:sp>
        <p:nvSpPr>
          <p:cNvPr id="9" name="Text 6"/>
          <p:cNvSpPr txBox="1"/>
          <p:nvPr/>
        </p:nvSpPr>
        <p:spPr>
          <a:xfrm>
            <a:off x="8686800" y="4892040"/>
            <a:ext cx="411480" cy="251460"/>
          </a:xfrm>
          <a:prstGeom prst="rect">
            <a:avLst/>
          </a:prstGeom>
          <a:noFill/>
          <a:ln/>
        </p:spPr>
        <p:txBody>
          <a:bodyPr wrap="square" lIns="0" tIns="0" rIns="0" bIns="0" rtlCol="0" anchor="ctr"/>
          <a:lstStyle/>
          <a:p>
            <a:pPr algn="r" indent="0" marL="0">
              <a:buNone/>
            </a:pPr>
            <a:r>
              <a:rPr lang="en-US" sz="750" dirty="0">
                <a:solidFill>
                  <a:srgbClr val="D1D5DB"/>
                </a:solidFill>
                <a:latin typeface="Arial" pitchFamily="34" charset="0"/>
                <a:ea typeface="Arial" pitchFamily="34" charset="-122"/>
                <a:cs typeface="Arial" pitchFamily="34" charset="-120"/>
              </a:rPr>
              <a:t>3/5</a:t>
            </a:r>
            <a:endParaRPr lang="en-US" sz="750" dirty="0"/>
          </a:p>
        </p:txBody>
      </p:sp>
      <p:sp>
        <p:nvSpPr>
          <p:cNvPr id="10" name="Text 7"/>
          <p:cNvSpPr txBox="1"/>
          <p:nvPr/>
        </p:nvSpPr>
        <p:spPr>
          <a:xfrm>
            <a:off x="228600" y="594360"/>
            <a:ext cx="3657600" cy="347472"/>
          </a:xfrm>
          <a:prstGeom prst="rect">
            <a:avLst/>
          </a:prstGeom>
          <a:noFill/>
          <a:ln/>
        </p:spPr>
        <p:txBody>
          <a:bodyPr wrap="square" lIns="0" tIns="0" rIns="0" bIns="0" rtlCol="0" anchor="ctr"/>
          <a:lstStyle/>
          <a:p>
            <a:pPr indent="0" marL="0">
              <a:buNone/>
            </a:pPr>
            <a:r>
              <a:rPr lang="en-US" sz="1800" b="1" dirty="0">
                <a:solidFill>
                  <a:srgbClr val="1F3A5F"/>
                </a:solidFill>
                <a:latin typeface="Arial" pitchFamily="34" charset="0"/>
                <a:ea typeface="Arial" pitchFamily="34" charset="-122"/>
                <a:cs typeface="Arial" pitchFamily="34" charset="-120"/>
              </a:rPr>
              <a:t>SITE </a:t>
            </a:r>
            <a:pPr indent="0" marL="0">
              <a:buNone/>
            </a:pPr>
            <a:r>
              <a:rPr lang="en-US" sz="1800" b="1" dirty="0">
                <a:solidFill>
                  <a:srgbClr val="C85A17"/>
                </a:solidFill>
                <a:latin typeface="Arial" pitchFamily="34" charset="0"/>
                <a:ea typeface="Arial" pitchFamily="34" charset="-122"/>
                <a:cs typeface="Arial" pitchFamily="34" charset="-120"/>
              </a:rPr>
              <a:t>DETAILS</a:t>
            </a:r>
            <a:endParaRPr lang="en-US" sz="1800" dirty="0"/>
          </a:p>
        </p:txBody>
      </p:sp>
      <p:sp>
        <p:nvSpPr>
          <p:cNvPr id="11" name="Text 8"/>
          <p:cNvSpPr txBox="1"/>
          <p:nvPr/>
        </p:nvSpPr>
        <p:spPr>
          <a:xfrm>
            <a:off x="6400800" y="621792"/>
            <a:ext cx="2514600" cy="256032"/>
          </a:xfrm>
          <a:prstGeom prst="rect">
            <a:avLst/>
          </a:prstGeom>
          <a:noFill/>
          <a:ln/>
        </p:spPr>
        <p:txBody>
          <a:bodyPr wrap="square" lIns="0" tIns="0" rIns="0" bIns="0" rtlCol="0" anchor="ctr"/>
          <a:lstStyle/>
          <a:p>
            <a:pPr algn="r" indent="0" marL="0">
              <a:buNone/>
            </a:pPr>
            <a:r>
              <a:rPr lang="en-US" sz="800" dirty="0">
                <a:solidFill>
                  <a:srgbClr val="D1D5DB"/>
                </a:solidFill>
                <a:latin typeface="Arial" pitchFamily="34" charset="0"/>
                <a:ea typeface="Arial" pitchFamily="34" charset="-122"/>
                <a:cs typeface="Arial" pitchFamily="34" charset="-120"/>
              </a:rPr>
              <a:t>[PROPERTY / COMPLEX NAME]</a:t>
            </a:r>
            <a:endParaRPr lang="en-US" sz="800" dirty="0"/>
          </a:p>
        </p:txBody>
      </p:sp>
      <p:sp>
        <p:nvSpPr>
          <p:cNvPr id="12" name="Shape 9"/>
          <p:cNvSpPr/>
          <p:nvPr/>
        </p:nvSpPr>
        <p:spPr>
          <a:xfrm>
            <a:off x="228600" y="960120"/>
            <a:ext cx="36576" cy="201168"/>
          </a:xfrm>
          <a:prstGeom prst="rect">
            <a:avLst/>
          </a:prstGeom>
          <a:solidFill>
            <a:srgbClr val="F5A623"/>
          </a:solidFill>
          <a:ln/>
        </p:spPr>
      </p:sp>
      <p:sp>
        <p:nvSpPr>
          <p:cNvPr id="13" name="Text 10"/>
          <p:cNvSpPr txBox="1"/>
          <p:nvPr/>
        </p:nvSpPr>
        <p:spPr>
          <a:xfrm>
            <a:off x="347472" y="960120"/>
            <a:ext cx="4206240" cy="201168"/>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SPACE INFORMATION</a:t>
            </a:r>
            <a:endParaRPr lang="en-US" sz="800" dirty="0"/>
          </a:p>
        </p:txBody>
      </p:sp>
      <p:sp>
        <p:nvSpPr>
          <p:cNvPr id="14" name="Shape 11"/>
          <p:cNvSpPr/>
          <p:nvPr/>
        </p:nvSpPr>
        <p:spPr>
          <a:xfrm>
            <a:off x="228600" y="1207008"/>
            <a:ext cx="4434840" cy="0"/>
          </a:xfrm>
          <a:prstGeom prst="line">
            <a:avLst/>
          </a:prstGeom>
          <a:noFill/>
          <a:ln w="6350">
            <a:solidFill>
              <a:srgbClr val="D1D5DB"/>
            </a:solidFill>
            <a:prstDash val="solid"/>
          </a:ln>
        </p:spPr>
      </p:sp>
      <p:sp>
        <p:nvSpPr>
          <p:cNvPr id="15" name="Text 12"/>
          <p:cNvSpPr txBox="1"/>
          <p:nvPr/>
        </p:nvSpPr>
        <p:spPr>
          <a:xfrm>
            <a:off x="228600" y="1234440"/>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TOTAL SIZE</a:t>
            </a:r>
            <a:endParaRPr lang="en-US" sz="750" dirty="0"/>
          </a:p>
        </p:txBody>
      </p:sp>
      <p:sp>
        <p:nvSpPr>
          <p:cNvPr id="16" name="Text 13"/>
          <p:cNvSpPr txBox="1"/>
          <p:nvPr/>
        </p:nvSpPr>
        <p:spPr>
          <a:xfrm>
            <a:off x="2286000" y="1234440"/>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[XX,XXX] SF</a:t>
            </a:r>
            <a:endParaRPr lang="en-US" sz="750" dirty="0"/>
          </a:p>
        </p:txBody>
      </p:sp>
      <p:sp>
        <p:nvSpPr>
          <p:cNvPr id="17" name="Shape 14"/>
          <p:cNvSpPr/>
          <p:nvPr/>
        </p:nvSpPr>
        <p:spPr>
          <a:xfrm>
            <a:off x="228600" y="1463040"/>
            <a:ext cx="4434840" cy="0"/>
          </a:xfrm>
          <a:prstGeom prst="line">
            <a:avLst/>
          </a:prstGeom>
          <a:noFill/>
          <a:ln w="6350">
            <a:solidFill>
              <a:srgbClr val="D1D5DB"/>
            </a:solidFill>
            <a:prstDash val="solid"/>
          </a:ln>
        </p:spPr>
      </p:sp>
      <p:sp>
        <p:nvSpPr>
          <p:cNvPr id="18" name="Text 15"/>
          <p:cNvSpPr txBox="1"/>
          <p:nvPr/>
        </p:nvSpPr>
        <p:spPr>
          <a:xfrm>
            <a:off x="228600" y="1490472"/>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SUITE A</a:t>
            </a:r>
            <a:endParaRPr lang="en-US" sz="750" dirty="0"/>
          </a:p>
        </p:txBody>
      </p:sp>
      <p:sp>
        <p:nvSpPr>
          <p:cNvPr id="19" name="Text 16"/>
          <p:cNvSpPr txBox="1"/>
          <p:nvPr/>
        </p:nvSpPr>
        <p:spPr>
          <a:xfrm>
            <a:off x="2286000" y="1490472"/>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[X,XXX] SF</a:t>
            </a:r>
            <a:endParaRPr lang="en-US" sz="750" dirty="0"/>
          </a:p>
        </p:txBody>
      </p:sp>
      <p:sp>
        <p:nvSpPr>
          <p:cNvPr id="20" name="Shape 17"/>
          <p:cNvSpPr/>
          <p:nvPr/>
        </p:nvSpPr>
        <p:spPr>
          <a:xfrm>
            <a:off x="228600" y="1719072"/>
            <a:ext cx="4434840" cy="0"/>
          </a:xfrm>
          <a:prstGeom prst="line">
            <a:avLst/>
          </a:prstGeom>
          <a:noFill/>
          <a:ln w="6350">
            <a:solidFill>
              <a:srgbClr val="D1D5DB"/>
            </a:solidFill>
            <a:prstDash val="solid"/>
          </a:ln>
        </p:spPr>
      </p:sp>
      <p:sp>
        <p:nvSpPr>
          <p:cNvPr id="21" name="Text 18"/>
          <p:cNvSpPr txBox="1"/>
          <p:nvPr/>
        </p:nvSpPr>
        <p:spPr>
          <a:xfrm>
            <a:off x="228600" y="1746504"/>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SUITE B</a:t>
            </a:r>
            <a:endParaRPr lang="en-US" sz="750" dirty="0"/>
          </a:p>
        </p:txBody>
      </p:sp>
      <p:sp>
        <p:nvSpPr>
          <p:cNvPr id="22" name="Text 19"/>
          <p:cNvSpPr txBox="1"/>
          <p:nvPr/>
        </p:nvSpPr>
        <p:spPr>
          <a:xfrm>
            <a:off x="2286000" y="1746504"/>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[X,XXX] SF</a:t>
            </a:r>
            <a:endParaRPr lang="en-US" sz="750" dirty="0"/>
          </a:p>
        </p:txBody>
      </p:sp>
      <p:sp>
        <p:nvSpPr>
          <p:cNvPr id="23" name="Shape 20"/>
          <p:cNvSpPr/>
          <p:nvPr/>
        </p:nvSpPr>
        <p:spPr>
          <a:xfrm>
            <a:off x="228600" y="1975104"/>
            <a:ext cx="4434840" cy="0"/>
          </a:xfrm>
          <a:prstGeom prst="line">
            <a:avLst/>
          </a:prstGeom>
          <a:noFill/>
          <a:ln w="6350">
            <a:solidFill>
              <a:srgbClr val="D1D5DB"/>
            </a:solidFill>
            <a:prstDash val="solid"/>
          </a:ln>
        </p:spPr>
      </p:sp>
      <p:sp>
        <p:nvSpPr>
          <p:cNvPr id="24" name="Text 21"/>
          <p:cNvSpPr txBox="1"/>
          <p:nvPr/>
        </p:nvSpPr>
        <p:spPr>
          <a:xfrm>
            <a:off x="228600" y="2002536"/>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SUITE C</a:t>
            </a:r>
            <a:endParaRPr lang="en-US" sz="750" dirty="0"/>
          </a:p>
        </p:txBody>
      </p:sp>
      <p:sp>
        <p:nvSpPr>
          <p:cNvPr id="25" name="Text 22"/>
          <p:cNvSpPr txBox="1"/>
          <p:nvPr/>
        </p:nvSpPr>
        <p:spPr>
          <a:xfrm>
            <a:off x="2286000" y="2002536"/>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[X,XXX] SF</a:t>
            </a:r>
            <a:endParaRPr lang="en-US" sz="750" dirty="0"/>
          </a:p>
        </p:txBody>
      </p:sp>
      <p:sp>
        <p:nvSpPr>
          <p:cNvPr id="26" name="Shape 23"/>
          <p:cNvSpPr/>
          <p:nvPr/>
        </p:nvSpPr>
        <p:spPr>
          <a:xfrm>
            <a:off x="228600" y="2340864"/>
            <a:ext cx="36576" cy="201168"/>
          </a:xfrm>
          <a:prstGeom prst="rect">
            <a:avLst/>
          </a:prstGeom>
          <a:solidFill>
            <a:srgbClr val="F5A623"/>
          </a:solidFill>
          <a:ln/>
        </p:spPr>
      </p:sp>
      <p:sp>
        <p:nvSpPr>
          <p:cNvPr id="27" name="Text 24"/>
          <p:cNvSpPr txBox="1"/>
          <p:nvPr/>
        </p:nvSpPr>
        <p:spPr>
          <a:xfrm>
            <a:off x="347472" y="2340864"/>
            <a:ext cx="4206240" cy="201168"/>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ZONING &amp; USE</a:t>
            </a:r>
            <a:endParaRPr lang="en-US" sz="800" dirty="0"/>
          </a:p>
        </p:txBody>
      </p:sp>
      <p:sp>
        <p:nvSpPr>
          <p:cNvPr id="28" name="Shape 25"/>
          <p:cNvSpPr/>
          <p:nvPr/>
        </p:nvSpPr>
        <p:spPr>
          <a:xfrm>
            <a:off x="228600" y="2587752"/>
            <a:ext cx="4434840" cy="0"/>
          </a:xfrm>
          <a:prstGeom prst="line">
            <a:avLst/>
          </a:prstGeom>
          <a:noFill/>
          <a:ln w="6350">
            <a:solidFill>
              <a:srgbClr val="D1D5DB"/>
            </a:solidFill>
            <a:prstDash val="solid"/>
          </a:ln>
        </p:spPr>
      </p:sp>
      <p:sp>
        <p:nvSpPr>
          <p:cNvPr id="29" name="Text 26"/>
          <p:cNvSpPr txBox="1"/>
          <p:nvPr/>
        </p:nvSpPr>
        <p:spPr>
          <a:xfrm>
            <a:off x="228600" y="2615184"/>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ZONING</a:t>
            </a:r>
            <a:endParaRPr lang="en-US" sz="750" dirty="0"/>
          </a:p>
        </p:txBody>
      </p:sp>
      <p:sp>
        <p:nvSpPr>
          <p:cNvPr id="30" name="Text 27"/>
          <p:cNvSpPr txBox="1"/>
          <p:nvPr/>
        </p:nvSpPr>
        <p:spPr>
          <a:xfrm>
            <a:off x="2286000" y="2615184"/>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[Zone Code], [City Name]</a:t>
            </a:r>
            <a:endParaRPr lang="en-US" sz="750" dirty="0"/>
          </a:p>
        </p:txBody>
      </p:sp>
      <p:sp>
        <p:nvSpPr>
          <p:cNvPr id="31" name="Shape 28"/>
          <p:cNvSpPr/>
          <p:nvPr/>
        </p:nvSpPr>
        <p:spPr>
          <a:xfrm>
            <a:off x="228600" y="2843784"/>
            <a:ext cx="4434840" cy="0"/>
          </a:xfrm>
          <a:prstGeom prst="line">
            <a:avLst/>
          </a:prstGeom>
          <a:noFill/>
          <a:ln w="6350">
            <a:solidFill>
              <a:srgbClr val="D1D5DB"/>
            </a:solidFill>
            <a:prstDash val="solid"/>
          </a:ln>
        </p:spPr>
      </p:sp>
      <p:sp>
        <p:nvSpPr>
          <p:cNvPr id="32" name="Text 29"/>
          <p:cNvSpPr txBox="1"/>
          <p:nvPr/>
        </p:nvSpPr>
        <p:spPr>
          <a:xfrm>
            <a:off x="228600" y="2871216"/>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PERMITTED USE</a:t>
            </a:r>
            <a:endParaRPr lang="en-US" sz="750" dirty="0"/>
          </a:p>
        </p:txBody>
      </p:sp>
      <p:sp>
        <p:nvSpPr>
          <p:cNvPr id="33" name="Text 30"/>
          <p:cNvSpPr txBox="1"/>
          <p:nvPr/>
        </p:nvSpPr>
        <p:spPr>
          <a:xfrm>
            <a:off x="2286000" y="2871216"/>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Retail, Office, Medical, Flex</a:t>
            </a:r>
            <a:endParaRPr lang="en-US" sz="750" dirty="0"/>
          </a:p>
        </p:txBody>
      </p:sp>
      <p:sp>
        <p:nvSpPr>
          <p:cNvPr id="34" name="Shape 31"/>
          <p:cNvSpPr/>
          <p:nvPr/>
        </p:nvSpPr>
        <p:spPr>
          <a:xfrm>
            <a:off x="228600" y="3099816"/>
            <a:ext cx="4434840" cy="0"/>
          </a:xfrm>
          <a:prstGeom prst="line">
            <a:avLst/>
          </a:prstGeom>
          <a:noFill/>
          <a:ln w="6350">
            <a:solidFill>
              <a:srgbClr val="D1D5DB"/>
            </a:solidFill>
            <a:prstDash val="solid"/>
          </a:ln>
        </p:spPr>
      </p:sp>
      <p:sp>
        <p:nvSpPr>
          <p:cNvPr id="35" name="Text 32"/>
          <p:cNvSpPr txBox="1"/>
          <p:nvPr/>
        </p:nvSpPr>
        <p:spPr>
          <a:xfrm>
            <a:off x="228600" y="3127248"/>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RESTRICTIONS</a:t>
            </a:r>
            <a:endParaRPr lang="en-US" sz="750" dirty="0"/>
          </a:p>
        </p:txBody>
      </p:sp>
      <p:sp>
        <p:nvSpPr>
          <p:cNvPr id="36" name="Text 33"/>
          <p:cNvSpPr txBox="1"/>
          <p:nvPr/>
        </p:nvSpPr>
        <p:spPr>
          <a:xfrm>
            <a:off x="2286000" y="3127248"/>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Per lease agreement</a:t>
            </a:r>
            <a:endParaRPr lang="en-US" sz="750" dirty="0"/>
          </a:p>
        </p:txBody>
      </p:sp>
      <p:sp>
        <p:nvSpPr>
          <p:cNvPr id="37" name="Shape 34"/>
          <p:cNvSpPr/>
          <p:nvPr/>
        </p:nvSpPr>
        <p:spPr>
          <a:xfrm>
            <a:off x="228600" y="3465576"/>
            <a:ext cx="36576" cy="201168"/>
          </a:xfrm>
          <a:prstGeom prst="rect">
            <a:avLst/>
          </a:prstGeom>
          <a:solidFill>
            <a:srgbClr val="F5A623"/>
          </a:solidFill>
          <a:ln/>
        </p:spPr>
      </p:sp>
      <p:sp>
        <p:nvSpPr>
          <p:cNvPr id="38" name="Text 35"/>
          <p:cNvSpPr txBox="1"/>
          <p:nvPr/>
        </p:nvSpPr>
        <p:spPr>
          <a:xfrm>
            <a:off x="347472" y="3465576"/>
            <a:ext cx="4206240" cy="201168"/>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UTILITIES</a:t>
            </a:r>
            <a:endParaRPr lang="en-US" sz="800" dirty="0"/>
          </a:p>
        </p:txBody>
      </p:sp>
      <p:sp>
        <p:nvSpPr>
          <p:cNvPr id="39" name="Shape 36"/>
          <p:cNvSpPr/>
          <p:nvPr/>
        </p:nvSpPr>
        <p:spPr>
          <a:xfrm>
            <a:off x="228600" y="3712464"/>
            <a:ext cx="4434840" cy="0"/>
          </a:xfrm>
          <a:prstGeom prst="line">
            <a:avLst/>
          </a:prstGeom>
          <a:noFill/>
          <a:ln w="6350">
            <a:solidFill>
              <a:srgbClr val="D1D5DB"/>
            </a:solidFill>
            <a:prstDash val="solid"/>
          </a:ln>
        </p:spPr>
      </p:sp>
      <p:sp>
        <p:nvSpPr>
          <p:cNvPr id="40" name="Text 37"/>
          <p:cNvSpPr txBox="1"/>
          <p:nvPr/>
        </p:nvSpPr>
        <p:spPr>
          <a:xfrm>
            <a:off x="228600" y="3739896"/>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WATER</a:t>
            </a:r>
            <a:endParaRPr lang="en-US" sz="750" dirty="0"/>
          </a:p>
        </p:txBody>
      </p:sp>
      <p:sp>
        <p:nvSpPr>
          <p:cNvPr id="41" name="Text 38"/>
          <p:cNvSpPr txBox="1"/>
          <p:nvPr/>
        </p:nvSpPr>
        <p:spPr>
          <a:xfrm>
            <a:off x="2286000" y="3739896"/>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Available</a:t>
            </a:r>
            <a:endParaRPr lang="en-US" sz="750" dirty="0"/>
          </a:p>
        </p:txBody>
      </p:sp>
      <p:sp>
        <p:nvSpPr>
          <p:cNvPr id="42" name="Shape 39"/>
          <p:cNvSpPr/>
          <p:nvPr/>
        </p:nvSpPr>
        <p:spPr>
          <a:xfrm>
            <a:off x="228600" y="3968496"/>
            <a:ext cx="4434840" cy="0"/>
          </a:xfrm>
          <a:prstGeom prst="line">
            <a:avLst/>
          </a:prstGeom>
          <a:noFill/>
          <a:ln w="6350">
            <a:solidFill>
              <a:srgbClr val="D1D5DB"/>
            </a:solidFill>
            <a:prstDash val="solid"/>
          </a:ln>
        </p:spPr>
      </p:sp>
      <p:sp>
        <p:nvSpPr>
          <p:cNvPr id="43" name="Text 40"/>
          <p:cNvSpPr txBox="1"/>
          <p:nvPr/>
        </p:nvSpPr>
        <p:spPr>
          <a:xfrm>
            <a:off x="228600" y="3995928"/>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SEWER</a:t>
            </a:r>
            <a:endParaRPr lang="en-US" sz="750" dirty="0"/>
          </a:p>
        </p:txBody>
      </p:sp>
      <p:sp>
        <p:nvSpPr>
          <p:cNvPr id="44" name="Text 41"/>
          <p:cNvSpPr txBox="1"/>
          <p:nvPr/>
        </p:nvSpPr>
        <p:spPr>
          <a:xfrm>
            <a:off x="2286000" y="3995928"/>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Available</a:t>
            </a:r>
            <a:endParaRPr lang="en-US" sz="750" dirty="0"/>
          </a:p>
        </p:txBody>
      </p:sp>
      <p:sp>
        <p:nvSpPr>
          <p:cNvPr id="45" name="Shape 42"/>
          <p:cNvSpPr/>
          <p:nvPr/>
        </p:nvSpPr>
        <p:spPr>
          <a:xfrm>
            <a:off x="228600" y="4224528"/>
            <a:ext cx="4434840" cy="0"/>
          </a:xfrm>
          <a:prstGeom prst="line">
            <a:avLst/>
          </a:prstGeom>
          <a:noFill/>
          <a:ln w="6350">
            <a:solidFill>
              <a:srgbClr val="D1D5DB"/>
            </a:solidFill>
            <a:prstDash val="solid"/>
          </a:ln>
        </p:spPr>
      </p:sp>
      <p:sp>
        <p:nvSpPr>
          <p:cNvPr id="46" name="Text 43"/>
          <p:cNvSpPr txBox="1"/>
          <p:nvPr/>
        </p:nvSpPr>
        <p:spPr>
          <a:xfrm>
            <a:off x="228600" y="4251960"/>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ELECTRIC</a:t>
            </a:r>
            <a:endParaRPr lang="en-US" sz="750" dirty="0"/>
          </a:p>
        </p:txBody>
      </p:sp>
      <p:sp>
        <p:nvSpPr>
          <p:cNvPr id="47" name="Text 44"/>
          <p:cNvSpPr txBox="1"/>
          <p:nvPr/>
        </p:nvSpPr>
        <p:spPr>
          <a:xfrm>
            <a:off x="2286000" y="4251960"/>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Available</a:t>
            </a:r>
            <a:endParaRPr lang="en-US" sz="750" dirty="0"/>
          </a:p>
        </p:txBody>
      </p:sp>
      <p:sp>
        <p:nvSpPr>
          <p:cNvPr id="48" name="Shape 45"/>
          <p:cNvSpPr/>
          <p:nvPr/>
        </p:nvSpPr>
        <p:spPr>
          <a:xfrm>
            <a:off x="228600" y="4480560"/>
            <a:ext cx="4434840" cy="0"/>
          </a:xfrm>
          <a:prstGeom prst="line">
            <a:avLst/>
          </a:prstGeom>
          <a:noFill/>
          <a:ln w="6350">
            <a:solidFill>
              <a:srgbClr val="D1D5DB"/>
            </a:solidFill>
            <a:prstDash val="solid"/>
          </a:ln>
        </p:spPr>
      </p:sp>
      <p:sp>
        <p:nvSpPr>
          <p:cNvPr id="49" name="Text 46"/>
          <p:cNvSpPr txBox="1"/>
          <p:nvPr/>
        </p:nvSpPr>
        <p:spPr>
          <a:xfrm>
            <a:off x="228600" y="4507992"/>
            <a:ext cx="2011680" cy="20116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GAS</a:t>
            </a:r>
            <a:endParaRPr lang="en-US" sz="750" dirty="0"/>
          </a:p>
        </p:txBody>
      </p:sp>
      <p:sp>
        <p:nvSpPr>
          <p:cNvPr id="50" name="Text 47"/>
          <p:cNvSpPr txBox="1"/>
          <p:nvPr/>
        </p:nvSpPr>
        <p:spPr>
          <a:xfrm>
            <a:off x="2286000" y="4507992"/>
            <a:ext cx="2377440" cy="201168"/>
          </a:xfrm>
          <a:prstGeom prst="rect">
            <a:avLst/>
          </a:prstGeom>
          <a:noFill/>
          <a:ln/>
        </p:spPr>
        <p:txBody>
          <a:bodyPr wrap="square" lIns="0" tIns="0" rIns="0" bIns="0" rtlCol="0" anchor="ctr"/>
          <a:lstStyle/>
          <a:p>
            <a:pPr algn="r" indent="0" marL="0">
              <a:buNone/>
            </a:pPr>
            <a:r>
              <a:rPr lang="en-US" sz="750" dirty="0">
                <a:solidFill>
                  <a:srgbClr val="4B5563"/>
                </a:solidFill>
                <a:latin typeface="Arial" pitchFamily="34" charset="0"/>
                <a:ea typeface="Arial" pitchFamily="34" charset="-122"/>
                <a:cs typeface="Arial" pitchFamily="34" charset="-120"/>
              </a:rPr>
              <a:t>Available</a:t>
            </a:r>
            <a:endParaRPr lang="en-US" sz="750" dirty="0"/>
          </a:p>
        </p:txBody>
      </p:sp>
      <p:sp>
        <p:nvSpPr>
          <p:cNvPr id="51" name="Shape 48"/>
          <p:cNvSpPr/>
          <p:nvPr/>
        </p:nvSpPr>
        <p:spPr>
          <a:xfrm>
            <a:off x="4937760" y="960120"/>
            <a:ext cx="3977640" cy="2606040"/>
          </a:xfrm>
          <a:prstGeom prst="rect">
            <a:avLst/>
          </a:prstGeom>
          <a:solidFill>
            <a:srgbClr val="1F3A5F"/>
          </a:solidFill>
          <a:ln/>
        </p:spPr>
      </p:sp>
      <p:sp>
        <p:nvSpPr>
          <p:cNvPr id="52" name="Text 49"/>
          <p:cNvSpPr txBox="1"/>
          <p:nvPr/>
        </p:nvSpPr>
        <p:spPr>
          <a:xfrm>
            <a:off x="5074920" y="1024128"/>
            <a:ext cx="3703320" cy="22860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WHY THIS PROPERTY</a:t>
            </a:r>
            <a:endParaRPr lang="en-US" sz="1000" dirty="0"/>
          </a:p>
        </p:txBody>
      </p:sp>
      <p:sp>
        <p:nvSpPr>
          <p:cNvPr id="53" name="Text 50"/>
          <p:cNvSpPr txBox="1"/>
          <p:nvPr/>
        </p:nvSpPr>
        <p:spPr>
          <a:xfrm>
            <a:off x="5074920" y="1316736"/>
            <a:ext cx="3703320" cy="182880"/>
          </a:xfrm>
          <a:prstGeom prst="rect">
            <a:avLst/>
          </a:prstGeom>
          <a:noFill/>
          <a:ln/>
        </p:spPr>
        <p:txBody>
          <a:bodyPr wrap="square" lIns="0" tIns="0" rIns="0" bIns="0" rtlCol="0" anchor="ctr"/>
          <a:lstStyle/>
          <a:p>
            <a:pPr indent="0" marL="0">
              <a:buNone/>
            </a:pPr>
            <a:r>
              <a:rPr lang="en-US" sz="750" b="1" dirty="0">
                <a:solidFill>
                  <a:srgbClr val="F5A623"/>
                </a:solidFill>
                <a:latin typeface="Arial" pitchFamily="34" charset="0"/>
                <a:ea typeface="Arial" pitchFamily="34" charset="-122"/>
                <a:cs typeface="Arial" pitchFamily="34" charset="-120"/>
              </a:rPr>
              <a:t>[KEY FEATURE 1]</a:t>
            </a:r>
            <a:endParaRPr lang="en-US" sz="750" dirty="0"/>
          </a:p>
        </p:txBody>
      </p:sp>
      <p:sp>
        <p:nvSpPr>
          <p:cNvPr id="54" name="Text 51"/>
          <p:cNvSpPr txBox="1"/>
          <p:nvPr/>
        </p:nvSpPr>
        <p:spPr>
          <a:xfrm>
            <a:off x="5074920" y="1499616"/>
            <a:ext cx="3703320" cy="292608"/>
          </a:xfrm>
          <a:prstGeom prst="rect">
            <a:avLst/>
          </a:prstGeom>
          <a:noFill/>
          <a:ln/>
        </p:spPr>
        <p:txBody>
          <a:bodyPr wrap="square" lIns="0" tIns="0" rIns="0" bIns="0" rtlCol="0" anchor="ctr"/>
          <a:lstStyle/>
          <a:p>
            <a:pPr indent="0" marL="0">
              <a:buNone/>
            </a:pPr>
            <a:r>
              <a:rPr lang="en-US" sz="700" dirty="0">
                <a:solidFill>
                  <a:srgbClr val="F4F5F7"/>
                </a:solidFill>
                <a:latin typeface="Arial" pitchFamily="34" charset="0"/>
                <a:ea typeface="Arial" pitchFamily="34" charset="-122"/>
                <a:cs typeface="Arial" pitchFamily="34" charset="-120"/>
              </a:rPr>
              <a:t>Describe what makes this aspect of the property compelling to a tenant or buyer.</a:t>
            </a:r>
            <a:endParaRPr lang="en-US" sz="700" dirty="0"/>
          </a:p>
        </p:txBody>
      </p:sp>
      <p:sp>
        <p:nvSpPr>
          <p:cNvPr id="55" name="Text 52"/>
          <p:cNvSpPr txBox="1"/>
          <p:nvPr/>
        </p:nvSpPr>
        <p:spPr>
          <a:xfrm>
            <a:off x="5074920" y="1865376"/>
            <a:ext cx="3703320" cy="182880"/>
          </a:xfrm>
          <a:prstGeom prst="rect">
            <a:avLst/>
          </a:prstGeom>
          <a:noFill/>
          <a:ln/>
        </p:spPr>
        <p:txBody>
          <a:bodyPr wrap="square" lIns="0" tIns="0" rIns="0" bIns="0" rtlCol="0" anchor="ctr"/>
          <a:lstStyle/>
          <a:p>
            <a:pPr indent="0" marL="0">
              <a:buNone/>
            </a:pPr>
            <a:r>
              <a:rPr lang="en-US" sz="750" b="1" dirty="0">
                <a:solidFill>
                  <a:srgbClr val="F5A623"/>
                </a:solidFill>
                <a:latin typeface="Arial" pitchFamily="34" charset="0"/>
                <a:ea typeface="Arial" pitchFamily="34" charset="-122"/>
                <a:cs typeface="Arial" pitchFamily="34" charset="-120"/>
              </a:rPr>
              <a:t>[KEY FEATURE 2]</a:t>
            </a:r>
            <a:endParaRPr lang="en-US" sz="750" dirty="0"/>
          </a:p>
        </p:txBody>
      </p:sp>
      <p:sp>
        <p:nvSpPr>
          <p:cNvPr id="56" name="Text 53"/>
          <p:cNvSpPr txBox="1"/>
          <p:nvPr/>
        </p:nvSpPr>
        <p:spPr>
          <a:xfrm>
            <a:off x="5074920" y="2048256"/>
            <a:ext cx="3703320" cy="292608"/>
          </a:xfrm>
          <a:prstGeom prst="rect">
            <a:avLst/>
          </a:prstGeom>
          <a:noFill/>
          <a:ln/>
        </p:spPr>
        <p:txBody>
          <a:bodyPr wrap="square" lIns="0" tIns="0" rIns="0" bIns="0" rtlCol="0" anchor="ctr"/>
          <a:lstStyle/>
          <a:p>
            <a:pPr indent="0" marL="0">
              <a:buNone/>
            </a:pPr>
            <a:r>
              <a:rPr lang="en-US" sz="700" dirty="0">
                <a:solidFill>
                  <a:srgbClr val="F4F5F7"/>
                </a:solidFill>
                <a:latin typeface="Arial" pitchFamily="34" charset="0"/>
                <a:ea typeface="Arial" pitchFamily="34" charset="-122"/>
                <a:cs typeface="Arial" pitchFamily="34" charset="-120"/>
              </a:rPr>
              <a:t>Location, access, traffic count, proximity to highways or amenities.</a:t>
            </a:r>
            <a:endParaRPr lang="en-US" sz="700" dirty="0"/>
          </a:p>
        </p:txBody>
      </p:sp>
      <p:sp>
        <p:nvSpPr>
          <p:cNvPr id="57" name="Text 54"/>
          <p:cNvSpPr txBox="1"/>
          <p:nvPr/>
        </p:nvSpPr>
        <p:spPr>
          <a:xfrm>
            <a:off x="5074920" y="2414016"/>
            <a:ext cx="3703320" cy="182880"/>
          </a:xfrm>
          <a:prstGeom prst="rect">
            <a:avLst/>
          </a:prstGeom>
          <a:noFill/>
          <a:ln/>
        </p:spPr>
        <p:txBody>
          <a:bodyPr wrap="square" lIns="0" tIns="0" rIns="0" bIns="0" rtlCol="0" anchor="ctr"/>
          <a:lstStyle/>
          <a:p>
            <a:pPr indent="0" marL="0">
              <a:buNone/>
            </a:pPr>
            <a:r>
              <a:rPr lang="en-US" sz="750" b="1" dirty="0">
                <a:solidFill>
                  <a:srgbClr val="F5A623"/>
                </a:solidFill>
                <a:latin typeface="Arial" pitchFamily="34" charset="0"/>
                <a:ea typeface="Arial" pitchFamily="34" charset="-122"/>
                <a:cs typeface="Arial" pitchFamily="34" charset="-120"/>
              </a:rPr>
              <a:t>[KEY FEATURE 3]</a:t>
            </a:r>
            <a:endParaRPr lang="en-US" sz="750" dirty="0"/>
          </a:p>
        </p:txBody>
      </p:sp>
      <p:sp>
        <p:nvSpPr>
          <p:cNvPr id="58" name="Text 55"/>
          <p:cNvSpPr txBox="1"/>
          <p:nvPr/>
        </p:nvSpPr>
        <p:spPr>
          <a:xfrm>
            <a:off x="5074920" y="2596896"/>
            <a:ext cx="3703320" cy="292608"/>
          </a:xfrm>
          <a:prstGeom prst="rect">
            <a:avLst/>
          </a:prstGeom>
          <a:noFill/>
          <a:ln/>
        </p:spPr>
        <p:txBody>
          <a:bodyPr wrap="square" lIns="0" tIns="0" rIns="0" bIns="0" rtlCol="0" anchor="ctr"/>
          <a:lstStyle/>
          <a:p>
            <a:pPr indent="0" marL="0">
              <a:buNone/>
            </a:pPr>
            <a:r>
              <a:rPr lang="en-US" sz="700" dirty="0">
                <a:solidFill>
                  <a:srgbClr val="F4F5F7"/>
                </a:solidFill>
                <a:latin typeface="Arial" pitchFamily="34" charset="0"/>
                <a:ea typeface="Arial" pitchFamily="34" charset="-122"/>
                <a:cs typeface="Arial" pitchFamily="34" charset="-120"/>
              </a:rPr>
              <a:t>Submarket growth, new developments, employer proximity.</a:t>
            </a:r>
            <a:endParaRPr lang="en-US" sz="700" dirty="0"/>
          </a:p>
        </p:txBody>
      </p:sp>
      <p:sp>
        <p:nvSpPr>
          <p:cNvPr id="59" name="Text 56"/>
          <p:cNvSpPr txBox="1"/>
          <p:nvPr/>
        </p:nvSpPr>
        <p:spPr>
          <a:xfrm>
            <a:off x="5074920" y="2962656"/>
            <a:ext cx="3703320" cy="182880"/>
          </a:xfrm>
          <a:prstGeom prst="rect">
            <a:avLst/>
          </a:prstGeom>
          <a:noFill/>
          <a:ln/>
        </p:spPr>
        <p:txBody>
          <a:bodyPr wrap="square" lIns="0" tIns="0" rIns="0" bIns="0" rtlCol="0" anchor="ctr"/>
          <a:lstStyle/>
          <a:p>
            <a:pPr indent="0" marL="0">
              <a:buNone/>
            </a:pPr>
            <a:r>
              <a:rPr lang="en-US" sz="750" b="1" dirty="0">
                <a:solidFill>
                  <a:srgbClr val="F5A623"/>
                </a:solidFill>
                <a:latin typeface="Arial" pitchFamily="34" charset="0"/>
                <a:ea typeface="Arial" pitchFamily="34" charset="-122"/>
                <a:cs typeface="Arial" pitchFamily="34" charset="-120"/>
              </a:rPr>
              <a:t>[KEY FEATURE 4]</a:t>
            </a:r>
            <a:endParaRPr lang="en-US" sz="750" dirty="0"/>
          </a:p>
        </p:txBody>
      </p:sp>
      <p:sp>
        <p:nvSpPr>
          <p:cNvPr id="60" name="Text 57"/>
          <p:cNvSpPr txBox="1"/>
          <p:nvPr/>
        </p:nvSpPr>
        <p:spPr>
          <a:xfrm>
            <a:off x="5074920" y="3145536"/>
            <a:ext cx="3703320" cy="292608"/>
          </a:xfrm>
          <a:prstGeom prst="rect">
            <a:avLst/>
          </a:prstGeom>
          <a:noFill/>
          <a:ln/>
        </p:spPr>
        <p:txBody>
          <a:bodyPr wrap="square" lIns="0" tIns="0" rIns="0" bIns="0" rtlCol="0" anchor="ctr"/>
          <a:lstStyle/>
          <a:p>
            <a:pPr indent="0" marL="0">
              <a:buNone/>
            </a:pPr>
            <a:r>
              <a:rPr lang="en-US" sz="700" dirty="0">
                <a:solidFill>
                  <a:srgbClr val="F4F5F7"/>
                </a:solidFill>
                <a:latin typeface="Arial" pitchFamily="34" charset="0"/>
                <a:ea typeface="Arial" pitchFamily="34" charset="-122"/>
                <a:cs typeface="Arial" pitchFamily="34" charset="-120"/>
              </a:rPr>
              <a:t>Deal flexibility — lease terms, build-out options, pricing.</a:t>
            </a:r>
            <a:endParaRPr lang="en-US" sz="700" dirty="0"/>
          </a:p>
        </p:txBody>
      </p:sp>
      <p:sp>
        <p:nvSpPr>
          <p:cNvPr id="61" name="Shape 58"/>
          <p:cNvSpPr/>
          <p:nvPr/>
        </p:nvSpPr>
        <p:spPr>
          <a:xfrm>
            <a:off x="4937760" y="3657600"/>
            <a:ext cx="3977640" cy="1097280"/>
          </a:xfrm>
          <a:prstGeom prst="rect">
            <a:avLst/>
          </a:prstGeom>
          <a:solidFill>
            <a:srgbClr val="D1D5DB"/>
          </a:solidFill>
          <a:ln/>
        </p:spPr>
      </p:sp>
      <p:sp>
        <p:nvSpPr>
          <p:cNvPr id="62" name="Text 59"/>
          <p:cNvSpPr txBox="1"/>
          <p:nvPr/>
        </p:nvSpPr>
        <p:spPr>
          <a:xfrm>
            <a:off x="4937760" y="4114800"/>
            <a:ext cx="3977640" cy="228600"/>
          </a:xfrm>
          <a:prstGeom prst="rect">
            <a:avLst/>
          </a:prstGeom>
          <a:noFill/>
          <a:ln/>
        </p:spPr>
        <p:txBody>
          <a:bodyPr wrap="square" lIns="0" tIns="0" rIns="0" bIns="0" rtlCol="0" anchor="ctr"/>
          <a:lstStyle/>
          <a:p>
            <a:pPr algn="ctr" indent="0" marL="0">
              <a:buNone/>
            </a:pPr>
            <a:r>
              <a:rPr lang="en-US" sz="1000" dirty="0">
                <a:solidFill>
                  <a:srgbClr val="9CA3AF"/>
                </a:solidFill>
                <a:latin typeface="Arial" pitchFamily="34" charset="0"/>
                <a:ea typeface="Arial" pitchFamily="34" charset="-122"/>
                <a:cs typeface="Arial" pitchFamily="34" charset="-120"/>
              </a:rPr>
              <a:t>[ ADDITIONAL PHOTO ]</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F3A5F"/>
          </a:solidFill>
          <a:ln/>
        </p:spPr>
      </p:sp>
      <p:pic>
        <p:nvPicPr>
          <p:cNvPr id="3" name="Image 0" descr="/home/claude/logo.png">    </p:cNvPr>
          <p:cNvPicPr>
            <a:picLocks noChangeAspect="1"/>
          </p:cNvPicPr>
          <p:nvPr/>
        </p:nvPicPr>
        <p:blipFill>
          <a:blip r:embed="rId1"/>
          <a:stretch>
            <a:fillRect/>
          </a:stretch>
        </p:blipFill>
        <p:spPr>
          <a:xfrm>
            <a:off x="137160" y="36576"/>
            <a:ext cx="1005840" cy="429768"/>
          </a:xfrm>
          <a:prstGeom prst="rect">
            <a:avLst/>
          </a:prstGeom>
        </p:spPr>
      </p:pic>
      <p:sp>
        <p:nvSpPr>
          <p:cNvPr id="4" name="Text 1"/>
          <p:cNvSpPr txBox="1"/>
          <p:nvPr/>
        </p:nvSpPr>
        <p:spPr>
          <a:xfrm>
            <a:off x="1280160" y="0"/>
            <a:ext cx="585216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[ADDRESS] • [CITY], TX</a:t>
            </a:r>
            <a:endParaRPr lang="en-US" sz="900" dirty="0"/>
          </a:p>
        </p:txBody>
      </p:sp>
      <p:sp>
        <p:nvSpPr>
          <p:cNvPr id="5" name="Shape 2"/>
          <p:cNvSpPr/>
          <p:nvPr/>
        </p:nvSpPr>
        <p:spPr>
          <a:xfrm>
            <a:off x="7406640" y="0"/>
            <a:ext cx="1737360" cy="502920"/>
          </a:xfrm>
          <a:prstGeom prst="rect">
            <a:avLst/>
          </a:prstGeom>
          <a:solidFill>
            <a:srgbClr val="C85A17"/>
          </a:solidFill>
          <a:ln/>
        </p:spPr>
      </p:sp>
      <p:sp>
        <p:nvSpPr>
          <p:cNvPr id="6" name="Text 3"/>
          <p:cNvSpPr txBox="1"/>
          <p:nvPr/>
        </p:nvSpPr>
        <p:spPr>
          <a:xfrm>
            <a:off x="7406640" y="0"/>
            <a:ext cx="1737360" cy="5029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LOCATION &amp; ACCESS</a:t>
            </a:r>
            <a:endParaRPr lang="en-US" sz="800" dirty="0"/>
          </a:p>
        </p:txBody>
      </p:sp>
      <p:sp>
        <p:nvSpPr>
          <p:cNvPr id="7" name="Shape 4"/>
          <p:cNvSpPr/>
          <p:nvPr/>
        </p:nvSpPr>
        <p:spPr>
          <a:xfrm>
            <a:off x="0" y="4892040"/>
            <a:ext cx="9144000" cy="251460"/>
          </a:xfrm>
          <a:prstGeom prst="rect">
            <a:avLst/>
          </a:prstGeom>
          <a:solidFill>
            <a:srgbClr val="1F3A5F"/>
          </a:solidFill>
          <a:ln/>
        </p:spPr>
      </p:sp>
      <p:sp>
        <p:nvSpPr>
          <p:cNvPr id="8" name="Text 5"/>
          <p:cNvSpPr txBox="1"/>
          <p:nvPr/>
        </p:nvSpPr>
        <p:spPr>
          <a:xfrm>
            <a:off x="137160" y="4892040"/>
            <a:ext cx="6400800" cy="251460"/>
          </a:xfrm>
          <a:prstGeom prst="rect">
            <a:avLst/>
          </a:prstGeom>
          <a:noFill/>
          <a:ln/>
        </p:spPr>
        <p:txBody>
          <a:bodyPr wrap="square" lIns="0" tIns="0" rIns="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[CONTACT NAME]  •  (512) 892-6001  •  pm@lifelongpm.com</a:t>
            </a:r>
            <a:endParaRPr lang="en-US" sz="750" dirty="0"/>
          </a:p>
        </p:txBody>
      </p:sp>
      <p:sp>
        <p:nvSpPr>
          <p:cNvPr id="9" name="Text 6"/>
          <p:cNvSpPr txBox="1"/>
          <p:nvPr/>
        </p:nvSpPr>
        <p:spPr>
          <a:xfrm>
            <a:off x="8686800" y="4892040"/>
            <a:ext cx="411480" cy="251460"/>
          </a:xfrm>
          <a:prstGeom prst="rect">
            <a:avLst/>
          </a:prstGeom>
          <a:noFill/>
          <a:ln/>
        </p:spPr>
        <p:txBody>
          <a:bodyPr wrap="square" lIns="0" tIns="0" rIns="0" bIns="0" rtlCol="0" anchor="ctr"/>
          <a:lstStyle/>
          <a:p>
            <a:pPr algn="r" indent="0" marL="0">
              <a:buNone/>
            </a:pPr>
            <a:r>
              <a:rPr lang="en-US" sz="750" dirty="0">
                <a:solidFill>
                  <a:srgbClr val="D1D5DB"/>
                </a:solidFill>
                <a:latin typeface="Arial" pitchFamily="34" charset="0"/>
                <a:ea typeface="Arial" pitchFamily="34" charset="-122"/>
                <a:cs typeface="Arial" pitchFamily="34" charset="-120"/>
              </a:rPr>
              <a:t>4/5</a:t>
            </a:r>
            <a:endParaRPr lang="en-US" sz="750" dirty="0"/>
          </a:p>
        </p:txBody>
      </p:sp>
      <p:sp>
        <p:nvSpPr>
          <p:cNvPr id="10" name="Text 7"/>
          <p:cNvSpPr txBox="1"/>
          <p:nvPr/>
        </p:nvSpPr>
        <p:spPr>
          <a:xfrm>
            <a:off x="228600" y="594360"/>
            <a:ext cx="4572000" cy="347472"/>
          </a:xfrm>
          <a:prstGeom prst="rect">
            <a:avLst/>
          </a:prstGeom>
          <a:noFill/>
          <a:ln/>
        </p:spPr>
        <p:txBody>
          <a:bodyPr wrap="square" lIns="0" tIns="0" rIns="0" bIns="0" rtlCol="0" anchor="ctr"/>
          <a:lstStyle/>
          <a:p>
            <a:pPr indent="0" marL="0">
              <a:buNone/>
            </a:pPr>
            <a:r>
              <a:rPr lang="en-US" sz="1800" b="1" dirty="0">
                <a:solidFill>
                  <a:srgbClr val="1F3A5F"/>
                </a:solidFill>
                <a:latin typeface="Arial" pitchFamily="34" charset="0"/>
                <a:ea typeface="Arial" pitchFamily="34" charset="-122"/>
                <a:cs typeface="Arial" pitchFamily="34" charset="-120"/>
              </a:rPr>
              <a:t>LOCATION &amp; </a:t>
            </a:r>
            <a:pPr indent="0" marL="0">
              <a:buNone/>
            </a:pPr>
            <a:r>
              <a:rPr lang="en-US" sz="1800" b="1" dirty="0">
                <a:solidFill>
                  <a:srgbClr val="C85A17"/>
                </a:solidFill>
                <a:latin typeface="Arial" pitchFamily="34" charset="0"/>
                <a:ea typeface="Arial" pitchFamily="34" charset="-122"/>
                <a:cs typeface="Arial" pitchFamily="34" charset="-120"/>
              </a:rPr>
              <a:t>ACCESS</a:t>
            </a:r>
            <a:endParaRPr lang="en-US" sz="1800" dirty="0"/>
          </a:p>
        </p:txBody>
      </p:sp>
      <p:sp>
        <p:nvSpPr>
          <p:cNvPr id="11" name="Shape 8"/>
          <p:cNvSpPr/>
          <p:nvPr/>
        </p:nvSpPr>
        <p:spPr>
          <a:xfrm>
            <a:off x="228600" y="1005840"/>
            <a:ext cx="5212080" cy="3520440"/>
          </a:xfrm>
          <a:prstGeom prst="rect">
            <a:avLst/>
          </a:prstGeom>
          <a:solidFill>
            <a:srgbClr val="D1D5DB"/>
          </a:solidFill>
          <a:ln/>
        </p:spPr>
      </p:sp>
      <p:sp>
        <p:nvSpPr>
          <p:cNvPr id="12" name="Text 9"/>
          <p:cNvSpPr txBox="1"/>
          <p:nvPr/>
        </p:nvSpPr>
        <p:spPr>
          <a:xfrm>
            <a:off x="228600" y="2651760"/>
            <a:ext cx="5212080" cy="274320"/>
          </a:xfrm>
          <a:prstGeom prst="rect">
            <a:avLst/>
          </a:prstGeom>
          <a:noFill/>
          <a:ln/>
        </p:spPr>
        <p:txBody>
          <a:bodyPr wrap="square" lIns="0" tIns="0" rIns="0" bIns="0" rtlCol="0" anchor="ctr"/>
          <a:lstStyle/>
          <a:p>
            <a:pPr algn="ctr" indent="0" marL="0">
              <a:buNone/>
            </a:pPr>
            <a:r>
              <a:rPr lang="en-US" sz="1200" dirty="0">
                <a:solidFill>
                  <a:srgbClr val="9CA3AF"/>
                </a:solidFill>
                <a:latin typeface="Arial" pitchFamily="34" charset="0"/>
                <a:ea typeface="Arial" pitchFamily="34" charset="-122"/>
                <a:cs typeface="Arial" pitchFamily="34" charset="-120"/>
              </a:rPr>
              <a:t>[ AERIAL / LOCATION MAP ]</a:t>
            </a:r>
            <a:endParaRPr lang="en-US" sz="1200" dirty="0"/>
          </a:p>
        </p:txBody>
      </p:sp>
      <p:sp>
        <p:nvSpPr>
          <p:cNvPr id="13" name="Shape 10"/>
          <p:cNvSpPr/>
          <p:nvPr/>
        </p:nvSpPr>
        <p:spPr>
          <a:xfrm>
            <a:off x="5577840" y="1005840"/>
            <a:ext cx="3337560" cy="1920240"/>
          </a:xfrm>
          <a:prstGeom prst="rect">
            <a:avLst/>
          </a:prstGeom>
          <a:solidFill>
            <a:srgbClr val="1F3A5F"/>
          </a:solidFill>
          <a:ln/>
        </p:spPr>
      </p:sp>
      <p:sp>
        <p:nvSpPr>
          <p:cNvPr id="14" name="Text 11"/>
          <p:cNvSpPr txBox="1"/>
          <p:nvPr/>
        </p:nvSpPr>
        <p:spPr>
          <a:xfrm>
            <a:off x="5669280" y="1051560"/>
            <a:ext cx="3154680" cy="22860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ACCESS SUMMARY</a:t>
            </a:r>
            <a:endParaRPr lang="en-US" sz="900" dirty="0"/>
          </a:p>
        </p:txBody>
      </p:sp>
      <p:sp>
        <p:nvSpPr>
          <p:cNvPr id="15" name="Text 12"/>
          <p:cNvSpPr txBox="1"/>
          <p:nvPr/>
        </p:nvSpPr>
        <p:spPr>
          <a:xfrm>
            <a:off x="5669280" y="1325880"/>
            <a:ext cx="3154680" cy="164592"/>
          </a:xfrm>
          <a:prstGeom prst="rect">
            <a:avLst/>
          </a:prstGeom>
          <a:noFill/>
          <a:ln/>
        </p:spPr>
        <p:txBody>
          <a:bodyPr wrap="square" lIns="0" tIns="0" rIns="0" bIns="0" rtlCol="0" anchor="ctr"/>
          <a:lstStyle/>
          <a:p>
            <a:pPr indent="0" marL="0">
              <a:buNone/>
            </a:pPr>
            <a:r>
              <a:rPr lang="en-US" sz="700" b="1" dirty="0">
                <a:solidFill>
                  <a:srgbClr val="F5A623"/>
                </a:solidFill>
                <a:latin typeface="Arial" pitchFamily="34" charset="0"/>
                <a:ea typeface="Arial" pitchFamily="34" charset="-122"/>
                <a:cs typeface="Arial" pitchFamily="34" charset="-120"/>
              </a:rPr>
              <a:t>PRIMARY ENTRY</a:t>
            </a:r>
            <a:endParaRPr lang="en-US" sz="700" dirty="0"/>
          </a:p>
        </p:txBody>
      </p:sp>
      <p:sp>
        <p:nvSpPr>
          <p:cNvPr id="16" name="Text 13"/>
          <p:cNvSpPr txBox="1"/>
          <p:nvPr/>
        </p:nvSpPr>
        <p:spPr>
          <a:xfrm>
            <a:off x="5669280" y="1481328"/>
            <a:ext cx="3154680" cy="164592"/>
          </a:xfrm>
          <a:prstGeom prst="rect">
            <a:avLst/>
          </a:prstGeom>
          <a:noFill/>
          <a:ln/>
        </p:spPr>
        <p:txBody>
          <a:bodyPr wrap="square" lIns="0" tIns="0" rIns="0" bIns="0" rtlCol="0" anchor="ctr"/>
          <a:lstStyle/>
          <a:p>
            <a:pPr indent="0" marL="0">
              <a:buNone/>
            </a:pPr>
            <a:r>
              <a:rPr lang="en-US" sz="700" dirty="0">
                <a:solidFill>
                  <a:srgbClr val="F4F5F7"/>
                </a:solidFill>
                <a:latin typeface="Arial" pitchFamily="34" charset="0"/>
                <a:ea typeface="Arial" pitchFamily="34" charset="-122"/>
                <a:cs typeface="Arial" pitchFamily="34" charset="-120"/>
              </a:rPr>
              <a:t>[Describe primary entry route and access point]</a:t>
            </a:r>
            <a:endParaRPr lang="en-US" sz="700" dirty="0"/>
          </a:p>
        </p:txBody>
      </p:sp>
      <p:sp>
        <p:nvSpPr>
          <p:cNvPr id="17" name="Text 14"/>
          <p:cNvSpPr txBox="1"/>
          <p:nvPr/>
        </p:nvSpPr>
        <p:spPr>
          <a:xfrm>
            <a:off x="5669280" y="1709928"/>
            <a:ext cx="3154680" cy="164592"/>
          </a:xfrm>
          <a:prstGeom prst="rect">
            <a:avLst/>
          </a:prstGeom>
          <a:noFill/>
          <a:ln/>
        </p:spPr>
        <p:txBody>
          <a:bodyPr wrap="square" lIns="0" tIns="0" rIns="0" bIns="0" rtlCol="0" anchor="ctr"/>
          <a:lstStyle/>
          <a:p>
            <a:pPr indent="0" marL="0">
              <a:buNone/>
            </a:pPr>
            <a:r>
              <a:rPr lang="en-US" sz="700" b="1" dirty="0">
                <a:solidFill>
                  <a:srgbClr val="F5A623"/>
                </a:solidFill>
                <a:latin typeface="Arial" pitchFamily="34" charset="0"/>
                <a:ea typeface="Arial" pitchFamily="34" charset="-122"/>
                <a:cs typeface="Arial" pitchFamily="34" charset="-120"/>
              </a:rPr>
              <a:t>ROAD TYPE</a:t>
            </a:r>
            <a:endParaRPr lang="en-US" sz="700" dirty="0"/>
          </a:p>
        </p:txBody>
      </p:sp>
      <p:sp>
        <p:nvSpPr>
          <p:cNvPr id="18" name="Text 15"/>
          <p:cNvSpPr txBox="1"/>
          <p:nvPr/>
        </p:nvSpPr>
        <p:spPr>
          <a:xfrm>
            <a:off x="5669280" y="1865376"/>
            <a:ext cx="3154680" cy="164592"/>
          </a:xfrm>
          <a:prstGeom prst="rect">
            <a:avLst/>
          </a:prstGeom>
          <a:noFill/>
          <a:ln/>
        </p:spPr>
        <p:txBody>
          <a:bodyPr wrap="square" lIns="0" tIns="0" rIns="0" bIns="0" rtlCol="0" anchor="ctr"/>
          <a:lstStyle/>
          <a:p>
            <a:pPr indent="0" marL="0">
              <a:buNone/>
            </a:pPr>
            <a:r>
              <a:rPr lang="en-US" sz="700" dirty="0">
                <a:solidFill>
                  <a:srgbClr val="F4F5F7"/>
                </a:solidFill>
                <a:latin typeface="Arial" pitchFamily="34" charset="0"/>
                <a:ea typeface="Arial" pitchFamily="34" charset="-122"/>
                <a:cs typeface="Arial" pitchFamily="34" charset="-120"/>
              </a:rPr>
              <a:t>[Public / Private — maintained by whom]</a:t>
            </a:r>
            <a:endParaRPr lang="en-US" sz="700" dirty="0"/>
          </a:p>
        </p:txBody>
      </p:sp>
      <p:sp>
        <p:nvSpPr>
          <p:cNvPr id="19" name="Text 16"/>
          <p:cNvSpPr txBox="1"/>
          <p:nvPr/>
        </p:nvSpPr>
        <p:spPr>
          <a:xfrm>
            <a:off x="5669280" y="2093976"/>
            <a:ext cx="3154680" cy="164592"/>
          </a:xfrm>
          <a:prstGeom prst="rect">
            <a:avLst/>
          </a:prstGeom>
          <a:noFill/>
          <a:ln/>
        </p:spPr>
        <p:txBody>
          <a:bodyPr wrap="square" lIns="0" tIns="0" rIns="0" bIns="0" rtlCol="0" anchor="ctr"/>
          <a:lstStyle/>
          <a:p>
            <a:pPr indent="0" marL="0">
              <a:buNone/>
            </a:pPr>
            <a:r>
              <a:rPr lang="en-US" sz="700" b="1" dirty="0">
                <a:solidFill>
                  <a:srgbClr val="F5A623"/>
                </a:solidFill>
                <a:latin typeface="Arial" pitchFamily="34" charset="0"/>
                <a:ea typeface="Arial" pitchFamily="34" charset="-122"/>
                <a:cs typeface="Arial" pitchFamily="34" charset="-120"/>
              </a:rPr>
              <a:t>TRAFFIC</a:t>
            </a:r>
            <a:endParaRPr lang="en-US" sz="700" dirty="0"/>
          </a:p>
        </p:txBody>
      </p:sp>
      <p:sp>
        <p:nvSpPr>
          <p:cNvPr id="20" name="Text 17"/>
          <p:cNvSpPr txBox="1"/>
          <p:nvPr/>
        </p:nvSpPr>
        <p:spPr>
          <a:xfrm>
            <a:off x="5669280" y="2249424"/>
            <a:ext cx="3154680" cy="164592"/>
          </a:xfrm>
          <a:prstGeom prst="rect">
            <a:avLst/>
          </a:prstGeom>
          <a:noFill/>
          <a:ln/>
        </p:spPr>
        <p:txBody>
          <a:bodyPr wrap="square" lIns="0" tIns="0" rIns="0" bIns="0" rtlCol="0" anchor="ctr"/>
          <a:lstStyle/>
          <a:p>
            <a:pPr indent="0" marL="0">
              <a:buNone/>
            </a:pPr>
            <a:r>
              <a:rPr lang="en-US" sz="700" dirty="0">
                <a:solidFill>
                  <a:srgbClr val="F4F5F7"/>
                </a:solidFill>
                <a:latin typeface="Arial" pitchFamily="34" charset="0"/>
                <a:ea typeface="Arial" pitchFamily="34" charset="-122"/>
                <a:cs typeface="Arial" pitchFamily="34" charset="-120"/>
              </a:rPr>
              <a:t>[XX,XXX] VPD on [Road Name]</a:t>
            </a:r>
            <a:endParaRPr lang="en-US" sz="700" dirty="0"/>
          </a:p>
        </p:txBody>
      </p:sp>
      <p:sp>
        <p:nvSpPr>
          <p:cNvPr id="21" name="Text 18"/>
          <p:cNvSpPr txBox="1"/>
          <p:nvPr/>
        </p:nvSpPr>
        <p:spPr>
          <a:xfrm>
            <a:off x="5669280" y="2478024"/>
            <a:ext cx="3154680" cy="164592"/>
          </a:xfrm>
          <a:prstGeom prst="rect">
            <a:avLst/>
          </a:prstGeom>
          <a:noFill/>
          <a:ln/>
        </p:spPr>
        <p:txBody>
          <a:bodyPr wrap="square" lIns="0" tIns="0" rIns="0" bIns="0" rtlCol="0" anchor="ctr"/>
          <a:lstStyle/>
          <a:p>
            <a:pPr indent="0" marL="0">
              <a:buNone/>
            </a:pPr>
            <a:r>
              <a:rPr lang="en-US" sz="700" b="1" dirty="0">
                <a:solidFill>
                  <a:srgbClr val="F5A623"/>
                </a:solidFill>
                <a:latin typeface="Arial" pitchFamily="34" charset="0"/>
                <a:ea typeface="Arial" pitchFamily="34" charset="-122"/>
                <a:cs typeface="Arial" pitchFamily="34" charset="-120"/>
              </a:rPr>
              <a:t>TRUCK ACCESS</a:t>
            </a:r>
            <a:endParaRPr lang="en-US" sz="700" dirty="0"/>
          </a:p>
        </p:txBody>
      </p:sp>
      <p:sp>
        <p:nvSpPr>
          <p:cNvPr id="22" name="Text 19"/>
          <p:cNvSpPr txBox="1"/>
          <p:nvPr/>
        </p:nvSpPr>
        <p:spPr>
          <a:xfrm>
            <a:off x="5669280" y="2633472"/>
            <a:ext cx="3154680" cy="164592"/>
          </a:xfrm>
          <a:prstGeom prst="rect">
            <a:avLst/>
          </a:prstGeom>
          <a:noFill/>
          <a:ln/>
        </p:spPr>
        <p:txBody>
          <a:bodyPr wrap="square" lIns="0" tIns="0" rIns="0" bIns="0" rtlCol="0" anchor="ctr"/>
          <a:lstStyle/>
          <a:p>
            <a:pPr indent="0" marL="0">
              <a:buNone/>
            </a:pPr>
            <a:r>
              <a:rPr lang="en-US" sz="700" dirty="0">
                <a:solidFill>
                  <a:srgbClr val="F4F5F7"/>
                </a:solidFill>
                <a:latin typeface="Arial" pitchFamily="34" charset="0"/>
                <a:ea typeface="Arial" pitchFamily="34" charset="-122"/>
                <a:cs typeface="Arial" pitchFamily="34" charset="-120"/>
              </a:rPr>
              <a:t>[Describe heavy vehicle accessibility]</a:t>
            </a:r>
            <a:endParaRPr lang="en-US" sz="700" dirty="0"/>
          </a:p>
        </p:txBody>
      </p:sp>
      <p:sp>
        <p:nvSpPr>
          <p:cNvPr id="23" name="Text 20"/>
          <p:cNvSpPr txBox="1"/>
          <p:nvPr/>
        </p:nvSpPr>
        <p:spPr>
          <a:xfrm>
            <a:off x="5577840" y="2999232"/>
            <a:ext cx="3337560" cy="228600"/>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NEARBY HIGHWAY ACCESS</a:t>
            </a:r>
            <a:endParaRPr lang="en-US" sz="900" dirty="0"/>
          </a:p>
        </p:txBody>
      </p:sp>
      <p:sp>
        <p:nvSpPr>
          <p:cNvPr id="24" name="Shape 21"/>
          <p:cNvSpPr/>
          <p:nvPr/>
        </p:nvSpPr>
        <p:spPr>
          <a:xfrm>
            <a:off x="5577840" y="3273552"/>
            <a:ext cx="3337560" cy="256032"/>
          </a:xfrm>
          <a:prstGeom prst="rect">
            <a:avLst/>
          </a:prstGeom>
          <a:solidFill>
            <a:srgbClr val="F4F5F7"/>
          </a:solidFill>
          <a:ln/>
        </p:spPr>
      </p:sp>
      <p:sp>
        <p:nvSpPr>
          <p:cNvPr id="25" name="Text 22"/>
          <p:cNvSpPr txBox="1"/>
          <p:nvPr/>
        </p:nvSpPr>
        <p:spPr>
          <a:xfrm>
            <a:off x="5623560" y="3300984"/>
            <a:ext cx="1828800" cy="201168"/>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[HWY 1]</a:t>
            </a:r>
            <a:endParaRPr lang="en-US" sz="800" dirty="0"/>
          </a:p>
        </p:txBody>
      </p:sp>
      <p:sp>
        <p:nvSpPr>
          <p:cNvPr id="26" name="Text 23"/>
          <p:cNvSpPr txBox="1"/>
          <p:nvPr/>
        </p:nvSpPr>
        <p:spPr>
          <a:xfrm>
            <a:off x="7406640" y="3300984"/>
            <a:ext cx="1463040" cy="201168"/>
          </a:xfrm>
          <a:prstGeom prst="rect">
            <a:avLst/>
          </a:prstGeom>
          <a:noFill/>
          <a:ln/>
        </p:spPr>
        <p:txBody>
          <a:bodyPr wrap="square" lIns="0" tIns="0" rIns="0" bIns="0" rtlCol="0" anchor="ctr"/>
          <a:lstStyle/>
          <a:p>
            <a:pPr algn="r" indent="0" marL="0">
              <a:buNone/>
            </a:pPr>
            <a:r>
              <a:rPr lang="en-US" sz="800" dirty="0">
                <a:solidFill>
                  <a:srgbClr val="4B5563"/>
                </a:solidFill>
                <a:latin typeface="Arial" pitchFamily="34" charset="0"/>
                <a:ea typeface="Arial" pitchFamily="34" charset="-122"/>
                <a:cs typeface="Arial" pitchFamily="34" charset="-120"/>
              </a:rPr>
              <a:t>Direct Frontage</a:t>
            </a:r>
            <a:endParaRPr lang="en-US" sz="800" dirty="0"/>
          </a:p>
        </p:txBody>
      </p:sp>
      <p:sp>
        <p:nvSpPr>
          <p:cNvPr id="27" name="Shape 24"/>
          <p:cNvSpPr/>
          <p:nvPr/>
        </p:nvSpPr>
        <p:spPr>
          <a:xfrm>
            <a:off x="5577840" y="3575304"/>
            <a:ext cx="3337560" cy="256032"/>
          </a:xfrm>
          <a:prstGeom prst="rect">
            <a:avLst/>
          </a:prstGeom>
          <a:solidFill>
            <a:srgbClr val="FFFFFF"/>
          </a:solidFill>
          <a:ln/>
        </p:spPr>
      </p:sp>
      <p:sp>
        <p:nvSpPr>
          <p:cNvPr id="28" name="Text 25"/>
          <p:cNvSpPr txBox="1"/>
          <p:nvPr/>
        </p:nvSpPr>
        <p:spPr>
          <a:xfrm>
            <a:off x="5623560" y="3602736"/>
            <a:ext cx="1828800" cy="201168"/>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[HWY 2]</a:t>
            </a:r>
            <a:endParaRPr lang="en-US" sz="800" dirty="0"/>
          </a:p>
        </p:txBody>
      </p:sp>
      <p:sp>
        <p:nvSpPr>
          <p:cNvPr id="29" name="Text 26"/>
          <p:cNvSpPr txBox="1"/>
          <p:nvPr/>
        </p:nvSpPr>
        <p:spPr>
          <a:xfrm>
            <a:off x="7406640" y="3602736"/>
            <a:ext cx="1463040" cy="201168"/>
          </a:xfrm>
          <a:prstGeom prst="rect">
            <a:avLst/>
          </a:prstGeom>
          <a:noFill/>
          <a:ln/>
        </p:spPr>
        <p:txBody>
          <a:bodyPr wrap="square" lIns="0" tIns="0" rIns="0" bIns="0" rtlCol="0" anchor="ctr"/>
          <a:lstStyle/>
          <a:p>
            <a:pPr algn="r" indent="0" marL="0">
              <a:buNone/>
            </a:pPr>
            <a:r>
              <a:rPr lang="en-US" sz="800" dirty="0">
                <a:solidFill>
                  <a:srgbClr val="4B5563"/>
                </a:solidFill>
                <a:latin typeface="Arial" pitchFamily="34" charset="0"/>
                <a:ea typeface="Arial" pitchFamily="34" charset="-122"/>
                <a:cs typeface="Arial" pitchFamily="34" charset="-120"/>
              </a:rPr>
              <a:t>±X min</a:t>
            </a:r>
            <a:endParaRPr lang="en-US" sz="800" dirty="0"/>
          </a:p>
        </p:txBody>
      </p:sp>
      <p:sp>
        <p:nvSpPr>
          <p:cNvPr id="30" name="Shape 27"/>
          <p:cNvSpPr/>
          <p:nvPr/>
        </p:nvSpPr>
        <p:spPr>
          <a:xfrm>
            <a:off x="5577840" y="3877056"/>
            <a:ext cx="3337560" cy="256032"/>
          </a:xfrm>
          <a:prstGeom prst="rect">
            <a:avLst/>
          </a:prstGeom>
          <a:solidFill>
            <a:srgbClr val="F4F5F7"/>
          </a:solidFill>
          <a:ln/>
        </p:spPr>
      </p:sp>
      <p:sp>
        <p:nvSpPr>
          <p:cNvPr id="31" name="Text 28"/>
          <p:cNvSpPr txBox="1"/>
          <p:nvPr/>
        </p:nvSpPr>
        <p:spPr>
          <a:xfrm>
            <a:off x="5623560" y="3904488"/>
            <a:ext cx="1828800" cy="201168"/>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IH-35</a:t>
            </a:r>
            <a:endParaRPr lang="en-US" sz="800" dirty="0"/>
          </a:p>
        </p:txBody>
      </p:sp>
      <p:sp>
        <p:nvSpPr>
          <p:cNvPr id="32" name="Text 29"/>
          <p:cNvSpPr txBox="1"/>
          <p:nvPr/>
        </p:nvSpPr>
        <p:spPr>
          <a:xfrm>
            <a:off x="7406640" y="3904488"/>
            <a:ext cx="1463040" cy="201168"/>
          </a:xfrm>
          <a:prstGeom prst="rect">
            <a:avLst/>
          </a:prstGeom>
          <a:noFill/>
          <a:ln/>
        </p:spPr>
        <p:txBody>
          <a:bodyPr wrap="square" lIns="0" tIns="0" rIns="0" bIns="0" rtlCol="0" anchor="ctr"/>
          <a:lstStyle/>
          <a:p>
            <a:pPr algn="r" indent="0" marL="0">
              <a:buNone/>
            </a:pPr>
            <a:r>
              <a:rPr lang="en-US" sz="800" dirty="0">
                <a:solidFill>
                  <a:srgbClr val="4B5563"/>
                </a:solidFill>
                <a:latin typeface="Arial" pitchFamily="34" charset="0"/>
                <a:ea typeface="Arial" pitchFamily="34" charset="-122"/>
                <a:cs typeface="Arial" pitchFamily="34" charset="-120"/>
              </a:rPr>
              <a:t>±X min</a:t>
            </a:r>
            <a:endParaRPr lang="en-US" sz="800" dirty="0"/>
          </a:p>
        </p:txBody>
      </p:sp>
      <p:sp>
        <p:nvSpPr>
          <p:cNvPr id="33" name="Shape 30"/>
          <p:cNvSpPr/>
          <p:nvPr/>
        </p:nvSpPr>
        <p:spPr>
          <a:xfrm>
            <a:off x="5577840" y="4178808"/>
            <a:ext cx="3337560" cy="256032"/>
          </a:xfrm>
          <a:prstGeom prst="rect">
            <a:avLst/>
          </a:prstGeom>
          <a:solidFill>
            <a:srgbClr val="FFFFFF"/>
          </a:solidFill>
          <a:ln/>
        </p:spPr>
      </p:sp>
      <p:sp>
        <p:nvSpPr>
          <p:cNvPr id="34" name="Text 31"/>
          <p:cNvSpPr txBox="1"/>
          <p:nvPr/>
        </p:nvSpPr>
        <p:spPr>
          <a:xfrm>
            <a:off x="5623560" y="4206240"/>
            <a:ext cx="1828800" cy="201168"/>
          </a:xfrm>
          <a:prstGeom prst="rect">
            <a:avLst/>
          </a:prstGeom>
          <a:noFill/>
          <a:ln/>
        </p:spPr>
        <p:txBody>
          <a:bodyPr wrap="square" lIns="0" tIns="0" rIns="0" bIns="0" rtlCol="0" anchor="ctr"/>
          <a:lstStyle/>
          <a:p>
            <a:pPr indent="0" marL="0">
              <a:buNone/>
            </a:pPr>
            <a:r>
              <a:rPr lang="en-US" sz="800" b="1" dirty="0">
                <a:solidFill>
                  <a:srgbClr val="1F3A5F"/>
                </a:solidFill>
                <a:latin typeface="Arial" pitchFamily="34" charset="0"/>
                <a:ea typeface="Arial" pitchFamily="34" charset="-122"/>
                <a:cs typeface="Arial" pitchFamily="34" charset="-120"/>
              </a:rPr>
              <a:t>[HWY 3]</a:t>
            </a:r>
            <a:endParaRPr lang="en-US" sz="800" dirty="0"/>
          </a:p>
        </p:txBody>
      </p:sp>
      <p:sp>
        <p:nvSpPr>
          <p:cNvPr id="35" name="Text 32"/>
          <p:cNvSpPr txBox="1"/>
          <p:nvPr/>
        </p:nvSpPr>
        <p:spPr>
          <a:xfrm>
            <a:off x="7406640" y="4206240"/>
            <a:ext cx="1463040" cy="201168"/>
          </a:xfrm>
          <a:prstGeom prst="rect">
            <a:avLst/>
          </a:prstGeom>
          <a:noFill/>
          <a:ln/>
        </p:spPr>
        <p:txBody>
          <a:bodyPr wrap="square" lIns="0" tIns="0" rIns="0" bIns="0" rtlCol="0" anchor="ctr"/>
          <a:lstStyle/>
          <a:p>
            <a:pPr algn="r" indent="0" marL="0">
              <a:buNone/>
            </a:pPr>
            <a:r>
              <a:rPr lang="en-US" sz="800" dirty="0">
                <a:solidFill>
                  <a:srgbClr val="4B5563"/>
                </a:solidFill>
                <a:latin typeface="Arial" pitchFamily="34" charset="0"/>
                <a:ea typeface="Arial" pitchFamily="34" charset="-122"/>
                <a:cs typeface="Arial" pitchFamily="34" charset="-120"/>
              </a:rPr>
              <a:t>±X min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4114800"/>
          </a:xfrm>
          <a:prstGeom prst="rect">
            <a:avLst/>
          </a:prstGeom>
          <a:solidFill>
            <a:srgbClr val="D1D5DB"/>
          </a:solidFill>
          <a:ln/>
        </p:spPr>
      </p:sp>
      <p:sp>
        <p:nvSpPr>
          <p:cNvPr id="3" name="Text 1"/>
          <p:cNvSpPr txBox="1"/>
          <p:nvPr/>
        </p:nvSpPr>
        <p:spPr>
          <a:xfrm>
            <a:off x="0" y="1828800"/>
            <a:ext cx="9144000" cy="365760"/>
          </a:xfrm>
          <a:prstGeom prst="rect">
            <a:avLst/>
          </a:prstGeom>
          <a:noFill/>
          <a:ln/>
        </p:spPr>
        <p:txBody>
          <a:bodyPr wrap="square" lIns="0" tIns="0" rIns="0" bIns="0" rtlCol="0" anchor="ctr"/>
          <a:lstStyle/>
          <a:p>
            <a:pPr algn="ctr" indent="0" marL="0">
              <a:buNone/>
            </a:pPr>
            <a:r>
              <a:rPr lang="en-US" sz="1600" dirty="0">
                <a:solidFill>
                  <a:srgbClr val="9CA3AF"/>
                </a:solidFill>
                <a:latin typeface="Arial" pitchFamily="34" charset="0"/>
                <a:ea typeface="Arial" pitchFamily="34" charset="-122"/>
                <a:cs typeface="Arial" pitchFamily="34" charset="-120"/>
              </a:rPr>
              <a:t>[ HERO AERIAL PHOTO ]</a:t>
            </a:r>
            <a:endParaRPr lang="en-US" sz="1600" dirty="0"/>
          </a:p>
        </p:txBody>
      </p:sp>
      <p:sp>
        <p:nvSpPr>
          <p:cNvPr id="4" name="Shape 2"/>
          <p:cNvSpPr/>
          <p:nvPr/>
        </p:nvSpPr>
        <p:spPr>
          <a:xfrm>
            <a:off x="0" y="2560320"/>
            <a:ext cx="9144000" cy="1554480"/>
          </a:xfrm>
          <a:prstGeom prst="rect">
            <a:avLst/>
          </a:prstGeom>
          <a:solidFill>
            <a:srgbClr val="0A1929"/>
          </a:solidFill>
          <a:ln/>
        </p:spPr>
      </p:sp>
      <p:sp>
        <p:nvSpPr>
          <p:cNvPr id="5" name="Text 3"/>
          <p:cNvSpPr txBox="1"/>
          <p:nvPr/>
        </p:nvSpPr>
        <p:spPr>
          <a:xfrm>
            <a:off x="365760" y="2743200"/>
            <a:ext cx="8412480" cy="6400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[ADDRESS]</a:t>
            </a:r>
            <a:endParaRPr lang="en-US" sz="4400" dirty="0"/>
          </a:p>
        </p:txBody>
      </p:sp>
      <p:sp>
        <p:nvSpPr>
          <p:cNvPr id="6" name="Text 4"/>
          <p:cNvSpPr txBox="1"/>
          <p:nvPr/>
        </p:nvSpPr>
        <p:spPr>
          <a:xfrm>
            <a:off x="365760" y="3401568"/>
            <a:ext cx="8412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[CITY], TX  ·  [XX,XXX] SF  ·  FOR LEASE</a:t>
            </a:r>
            <a:endParaRPr lang="en-US" sz="1200" dirty="0"/>
          </a:p>
        </p:txBody>
      </p:sp>
      <p:sp>
        <p:nvSpPr>
          <p:cNvPr id="7" name="Shape 5"/>
          <p:cNvSpPr/>
          <p:nvPr/>
        </p:nvSpPr>
        <p:spPr>
          <a:xfrm>
            <a:off x="0" y="4114800"/>
            <a:ext cx="9144000" cy="1028700"/>
          </a:xfrm>
          <a:prstGeom prst="rect">
            <a:avLst/>
          </a:prstGeom>
          <a:solidFill>
            <a:srgbClr val="111827"/>
          </a:solidFill>
          <a:ln/>
        </p:spPr>
      </p:sp>
      <p:pic>
        <p:nvPicPr>
          <p:cNvPr id="8" name="Image 0" descr="/home/claude/logo.png">    </p:cNvPr>
          <p:cNvPicPr>
            <a:picLocks noChangeAspect="1"/>
          </p:cNvPicPr>
          <p:nvPr/>
        </p:nvPicPr>
        <p:blipFill>
          <a:blip r:embed="rId1"/>
          <a:stretch>
            <a:fillRect/>
          </a:stretch>
        </p:blipFill>
        <p:spPr>
          <a:xfrm>
            <a:off x="182880" y="4187952"/>
            <a:ext cx="1828800" cy="777240"/>
          </a:xfrm>
          <a:prstGeom prst="rect">
            <a:avLst/>
          </a:prstGeom>
        </p:spPr>
      </p:pic>
      <p:sp>
        <p:nvSpPr>
          <p:cNvPr id="9" name="Text 6"/>
          <p:cNvSpPr txBox="1"/>
          <p:nvPr/>
        </p:nvSpPr>
        <p:spPr>
          <a:xfrm>
            <a:off x="2194560" y="4251960"/>
            <a:ext cx="320040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[CONTACT NAME]</a:t>
            </a:r>
            <a:endParaRPr lang="en-US" sz="1200" dirty="0"/>
          </a:p>
        </p:txBody>
      </p:sp>
      <p:sp>
        <p:nvSpPr>
          <p:cNvPr id="10" name="Text 7"/>
          <p:cNvSpPr txBox="1"/>
          <p:nvPr/>
        </p:nvSpPr>
        <p:spPr>
          <a:xfrm>
            <a:off x="2194560" y="4507992"/>
            <a:ext cx="3200400" cy="201168"/>
          </a:xfrm>
          <a:prstGeom prst="rect">
            <a:avLst/>
          </a:prstGeom>
          <a:noFill/>
          <a:ln/>
        </p:spPr>
        <p:txBody>
          <a:bodyPr wrap="square" lIns="0" tIns="0" rIns="0" bIns="0" rtlCol="0" anchor="ctr"/>
          <a:lstStyle/>
          <a:p>
            <a:pPr indent="0" marL="0">
              <a:buNone/>
            </a:pPr>
            <a:r>
              <a:rPr lang="en-US" sz="900" dirty="0">
                <a:solidFill>
                  <a:srgbClr val="D1D5DB"/>
                </a:solidFill>
                <a:latin typeface="Arial" pitchFamily="34" charset="0"/>
                <a:ea typeface="Arial" pitchFamily="34" charset="-122"/>
                <a:cs typeface="Arial" pitchFamily="34" charset="-120"/>
              </a:rPr>
              <a:t>[TITLE]</a:t>
            </a:r>
            <a:endParaRPr lang="en-US" sz="900" dirty="0"/>
          </a:p>
        </p:txBody>
      </p:sp>
      <p:sp>
        <p:nvSpPr>
          <p:cNvPr id="11" name="Text 8"/>
          <p:cNvSpPr txBox="1"/>
          <p:nvPr/>
        </p:nvSpPr>
        <p:spPr>
          <a:xfrm>
            <a:off x="2194560" y="4727448"/>
            <a:ext cx="3200400" cy="182880"/>
          </a:xfrm>
          <a:prstGeom prst="rect">
            <a:avLst/>
          </a:prstGeom>
          <a:noFill/>
          <a:ln/>
        </p:spPr>
        <p:txBody>
          <a:bodyPr wrap="square" lIns="0" tIns="0" rIns="0" bIns="0" rtlCol="0" anchor="ctr"/>
          <a:lstStyle/>
          <a:p>
            <a:pPr indent="0" marL="0">
              <a:buNone/>
            </a:pPr>
            <a:r>
              <a:rPr lang="en-US" sz="850" dirty="0">
                <a:solidFill>
                  <a:srgbClr val="D1D5DB"/>
                </a:solidFill>
                <a:latin typeface="Arial" pitchFamily="34" charset="0"/>
                <a:ea typeface="Arial" pitchFamily="34" charset="-122"/>
                <a:cs typeface="Arial" pitchFamily="34" charset="-120"/>
              </a:rPr>
              <a:t>D: (512) 892-6001</a:t>
            </a:r>
            <a:endParaRPr lang="en-US" sz="850" dirty="0"/>
          </a:p>
        </p:txBody>
      </p:sp>
      <p:sp>
        <p:nvSpPr>
          <p:cNvPr id="12" name="Text 9"/>
          <p:cNvSpPr txBox="1"/>
          <p:nvPr/>
        </p:nvSpPr>
        <p:spPr>
          <a:xfrm>
            <a:off x="2194560" y="4910328"/>
            <a:ext cx="3200400" cy="182880"/>
          </a:xfrm>
          <a:prstGeom prst="rect">
            <a:avLst/>
          </a:prstGeom>
          <a:noFill/>
          <a:ln/>
        </p:spPr>
        <p:txBody>
          <a:bodyPr wrap="square" lIns="0" tIns="0" rIns="0" bIns="0" rtlCol="0" anchor="ctr"/>
          <a:lstStyle/>
          <a:p>
            <a:pPr indent="0" marL="0">
              <a:buNone/>
            </a:pPr>
            <a:r>
              <a:rPr lang="en-US" sz="850" dirty="0">
                <a:solidFill>
                  <a:srgbClr val="D1D5DB"/>
                </a:solidFill>
                <a:latin typeface="Arial" pitchFamily="34" charset="0"/>
                <a:ea typeface="Arial" pitchFamily="34" charset="-122"/>
                <a:cs typeface="Arial" pitchFamily="34" charset="-120"/>
              </a:rPr>
              <a:t>pm@lifelongpm.com</a:t>
            </a:r>
            <a:endParaRPr lang="en-US" sz="850" dirty="0"/>
          </a:p>
        </p:txBody>
      </p:sp>
      <p:sp>
        <p:nvSpPr>
          <p:cNvPr id="13" name="Text 10"/>
          <p:cNvSpPr txBox="1"/>
          <p:nvPr/>
        </p:nvSpPr>
        <p:spPr>
          <a:xfrm>
            <a:off x="5486400" y="4251960"/>
            <a:ext cx="3429000" cy="914400"/>
          </a:xfrm>
          <a:prstGeom prst="rect">
            <a:avLst/>
          </a:prstGeom>
          <a:noFill/>
          <a:ln/>
        </p:spPr>
        <p:txBody>
          <a:bodyPr wrap="square" lIns="0" tIns="0" rIns="0" bIns="0" rtlCol="0" anchor="ctr"/>
          <a:lstStyle/>
          <a:p>
            <a:pPr indent="0" marL="0">
              <a:buNone/>
            </a:pPr>
            <a:r>
              <a:rPr lang="en-US" sz="550" dirty="0">
                <a:solidFill>
                  <a:srgbClr val="6B7280"/>
                </a:solidFill>
                <a:latin typeface="Arial" pitchFamily="34" charset="0"/>
                <a:ea typeface="Arial" pitchFamily="34" charset="-122"/>
                <a:cs typeface="Arial" pitchFamily="34" charset="-120"/>
              </a:rPr>
              <a:t>The information contained herein has been obtained from sources deemed reliable. While we do not doubt its accuracy, we have not verified it and make no guarantee, warranty, or representation about it. It is your responsibility to independently confirm its accuracy and completeness. ©2026 Life Long Property Management. All rights reserved.</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2026-08-27T19:18:19Z</dcterms:created>
  <dcterms:modified xsi:type="dcterms:W3CDTF">2026-08-27T19:18:19Z</dcterms:modified>
</cp:coreProperties>
</file>